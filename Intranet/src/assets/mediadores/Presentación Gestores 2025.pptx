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1" r:id="rId4"/>
    <p:sldId id="271" r:id="rId5"/>
    <p:sldId id="273" r:id="rId6"/>
    <p:sldId id="274" r:id="rId7"/>
    <p:sldId id="265" r:id="rId8"/>
    <p:sldId id="266" r:id="rId9"/>
    <p:sldId id="259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hLCqZ8wNCMhodj9CsmbJ3yOR1d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2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331821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869307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668941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044586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Diapositiva de título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6"/>
          <p:cNvSpPr txBox="1">
            <a:spLocks noGrp="1"/>
          </p:cNvSpPr>
          <p:nvPr>
            <p:ph type="ctrTitle"/>
          </p:nvPr>
        </p:nvSpPr>
        <p:spPr>
          <a:xfrm>
            <a:off x="6096000" y="2061930"/>
            <a:ext cx="5265490" cy="3298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80974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body" idx="1"/>
          </p:nvPr>
        </p:nvSpPr>
        <p:spPr>
          <a:xfrm>
            <a:off x="838200" y="2270241"/>
            <a:ext cx="10515600" cy="4113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>
  <p:cSld name="Encabezado de sección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"/>
          <p:cNvSpPr txBox="1">
            <a:spLocks noGrp="1"/>
          </p:cNvSpPr>
          <p:nvPr>
            <p:ph type="ctrTitle"/>
          </p:nvPr>
        </p:nvSpPr>
        <p:spPr>
          <a:xfrm>
            <a:off x="918600" y="2358700"/>
            <a:ext cx="10354800" cy="14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3800" b="1" dirty="0" smtClean="0">
                <a:solidFill>
                  <a:srgbClr val="143A60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 </a:t>
            </a:r>
            <a:r>
              <a:rPr lang="es-CO" sz="3800" b="1" dirty="0">
                <a:solidFill>
                  <a:srgbClr val="143A60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“Mediadores de Convivencia 2025"</a:t>
            </a:r>
            <a:endParaRPr sz="3800" dirty="0">
              <a:solidFill>
                <a:srgbClr val="143A60"/>
              </a:solidFill>
              <a:latin typeface="Century Gothic" panose="020B0502020202020204" pitchFamily="34" charset="0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81;p1">
            <a:extLst>
              <a:ext uri="{FF2B5EF4-FFF2-40B4-BE49-F238E27FC236}">
                <a16:creationId xmlns:a16="http://schemas.microsoft.com/office/drawing/2014/main" id="{DC670649-DABB-41CB-BAD9-615B4C82A7F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35236" y="4087905"/>
            <a:ext cx="2899682" cy="1703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ABDF7C-37C2-4F37-8BF5-CF864EBC6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9742"/>
            <a:ext cx="10515600" cy="1054918"/>
          </a:xfrm>
        </p:spPr>
        <p:txBody>
          <a:bodyPr>
            <a:normAutofit fontScale="90000"/>
          </a:bodyPr>
          <a:lstStyle/>
          <a:p>
            <a:pPr algn="ctr"/>
            <a:r>
              <a:rPr lang="es-MX" dirty="0">
                <a:solidFill>
                  <a:srgbClr val="1F3864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General</a:t>
            </a:r>
            <a:br>
              <a:rPr lang="es-MX" dirty="0">
                <a:solidFill>
                  <a:srgbClr val="1F3864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lang="es-CO" dirty="0"/>
          </a:p>
        </p:txBody>
      </p:sp>
      <p:sp>
        <p:nvSpPr>
          <p:cNvPr id="8" name="Google Shape;87;p2">
            <a:extLst>
              <a:ext uri="{FF2B5EF4-FFF2-40B4-BE49-F238E27FC236}">
                <a16:creationId xmlns:a16="http://schemas.microsoft.com/office/drawing/2014/main" id="{697390E7-C2D6-4F2D-AFAA-AEB81DEC6023}"/>
              </a:ext>
            </a:extLst>
          </p:cNvPr>
          <p:cNvSpPr txBox="1"/>
          <p:nvPr/>
        </p:nvSpPr>
        <p:spPr>
          <a:xfrm>
            <a:off x="920666" y="3963115"/>
            <a:ext cx="10515600" cy="4839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s-ES" sz="1600" dirty="0">
                <a:latin typeface="Century Gothic" panose="020B0502020202020204" pitchFamily="34" charset="0"/>
              </a:rPr>
              <a:t>1. Desarrollar el modelo de Gestión e Intervención Comunitaria, Preventiva, Cívica y Pedagógica para fortalecer acciones encaminadas a la prevención del delito y el mejoramiento de la convivencia y seguridad ciudadana en el departamento.</a:t>
            </a:r>
            <a:endParaRPr lang="es-ES" sz="1600" dirty="0">
              <a:latin typeface="Century Gothic" panose="020B0502020202020204" pitchFamily="34" charset="0"/>
              <a:ea typeface="Century Gothic"/>
              <a:cs typeface="Century Gothic"/>
              <a:sym typeface="Century Gothic"/>
            </a:endParaRPr>
          </a:p>
          <a:p>
            <a:pPr algn="just">
              <a:lnSpc>
                <a:spcPct val="150000"/>
              </a:lnSpc>
            </a:pPr>
            <a:r>
              <a:rPr lang="es-ES" sz="1600" dirty="0">
                <a:latin typeface="Century Gothic" panose="020B0502020202020204" pitchFamily="34" charset="0"/>
              </a:rPr>
              <a:t>2. Contribuir a la generación de entornos seguros y cívicos a través de la sensibilización de la comunidad por medio de campanas de mitigación del delito y el mejoramiento de la convivencia y seguridad ciudadana.</a:t>
            </a:r>
          </a:p>
        </p:txBody>
      </p:sp>
      <p:sp>
        <p:nvSpPr>
          <p:cNvPr id="9" name="Google Shape;90;p2">
            <a:extLst>
              <a:ext uri="{FF2B5EF4-FFF2-40B4-BE49-F238E27FC236}">
                <a16:creationId xmlns:a16="http://schemas.microsoft.com/office/drawing/2014/main" id="{70F5826D-B25B-4098-A9CA-48AECE07909E}"/>
              </a:ext>
            </a:extLst>
          </p:cNvPr>
          <p:cNvSpPr/>
          <p:nvPr/>
        </p:nvSpPr>
        <p:spPr>
          <a:xfrm>
            <a:off x="856014" y="3850342"/>
            <a:ext cx="10580252" cy="2532527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2F549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rgbClr val="1F3864"/>
              </a:buClr>
              <a:buSzPct val="100000"/>
            </a:pPr>
            <a:endParaRPr lang="es-MX" sz="800" dirty="0"/>
          </a:p>
        </p:txBody>
      </p:sp>
      <p:sp>
        <p:nvSpPr>
          <p:cNvPr id="10" name="Google Shape;90;p2">
            <a:extLst>
              <a:ext uri="{FF2B5EF4-FFF2-40B4-BE49-F238E27FC236}">
                <a16:creationId xmlns:a16="http://schemas.microsoft.com/office/drawing/2014/main" id="{CF0789FA-A2AF-41DF-99B6-F6344396AC51}"/>
              </a:ext>
            </a:extLst>
          </p:cNvPr>
          <p:cNvSpPr/>
          <p:nvPr/>
        </p:nvSpPr>
        <p:spPr>
          <a:xfrm>
            <a:off x="856014" y="1587021"/>
            <a:ext cx="10580252" cy="133715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2F549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rgbClr val="1F3864"/>
              </a:buClr>
              <a:buSzPct val="100000"/>
            </a:pPr>
            <a:endParaRPr lang="es-MX" sz="800" dirty="0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C7D55FE6-CBBB-4F3E-BDC7-76EFD13B1B60}"/>
              </a:ext>
            </a:extLst>
          </p:cNvPr>
          <p:cNvSpPr txBox="1">
            <a:spLocks/>
          </p:cNvSpPr>
          <p:nvPr/>
        </p:nvSpPr>
        <p:spPr>
          <a:xfrm>
            <a:off x="1075835" y="3081995"/>
            <a:ext cx="5020165" cy="1054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MX" dirty="0">
                <a:solidFill>
                  <a:srgbClr val="1F3864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Objetivos Específicos</a:t>
            </a:r>
            <a:br>
              <a:rPr lang="es-MX" dirty="0">
                <a:solidFill>
                  <a:srgbClr val="1F3864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lang="es-CO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3C524F2-D831-445A-A45D-B1EB835F3169}"/>
              </a:ext>
            </a:extLst>
          </p:cNvPr>
          <p:cNvSpPr/>
          <p:nvPr/>
        </p:nvSpPr>
        <p:spPr>
          <a:xfrm>
            <a:off x="856014" y="1637310"/>
            <a:ext cx="10305541" cy="11535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1600" dirty="0">
                <a:latin typeface="Century Gothic" panose="020B0502020202020204" pitchFamily="34" charset="0"/>
              </a:rPr>
              <a:t>Implementar estrategia de convivencia y seguridad ciudadana en el desarrollo del modelo situacional del delito para potenciar la eficacia y la percepción de la seguridad en espacios públicos en el departamento del Valle del Cauca.</a:t>
            </a:r>
            <a:endParaRPr lang="es-CO" sz="160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oogle Shape;113;p5">
            <a:extLst>
              <a:ext uri="{FF2B5EF4-FFF2-40B4-BE49-F238E27FC236}">
                <a16:creationId xmlns:a16="http://schemas.microsoft.com/office/drawing/2014/main" id="{E1E06F01-00B9-4CF3-868D-AD4C55430EB3}"/>
              </a:ext>
            </a:extLst>
          </p:cNvPr>
          <p:cNvGrpSpPr/>
          <p:nvPr/>
        </p:nvGrpSpPr>
        <p:grpSpPr>
          <a:xfrm>
            <a:off x="8987839" y="5058193"/>
            <a:ext cx="2573100" cy="1094433"/>
            <a:chOff x="6555187" y="2874004"/>
            <a:chExt cx="1261287" cy="1094433"/>
          </a:xfrm>
        </p:grpSpPr>
        <p:sp>
          <p:nvSpPr>
            <p:cNvPr id="31" name="Google Shape;114;p5">
              <a:extLst>
                <a:ext uri="{FF2B5EF4-FFF2-40B4-BE49-F238E27FC236}">
                  <a16:creationId xmlns:a16="http://schemas.microsoft.com/office/drawing/2014/main" id="{F7B9B82A-B904-4E16-8AA4-D8B9E53D36A2}"/>
                </a:ext>
              </a:extLst>
            </p:cNvPr>
            <p:cNvSpPr/>
            <p:nvPr/>
          </p:nvSpPr>
          <p:spPr>
            <a:xfrm>
              <a:off x="6555187" y="2874004"/>
              <a:ext cx="1261287" cy="981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115;p5">
              <a:extLst>
                <a:ext uri="{FF2B5EF4-FFF2-40B4-BE49-F238E27FC236}">
                  <a16:creationId xmlns:a16="http://schemas.microsoft.com/office/drawing/2014/main" id="{2A75EF30-CC7D-49C2-A729-A8E1FFF4C5AB}"/>
                </a:ext>
              </a:extLst>
            </p:cNvPr>
            <p:cNvSpPr txBox="1"/>
            <p:nvPr/>
          </p:nvSpPr>
          <p:spPr>
            <a:xfrm>
              <a:off x="6555187" y="2987327"/>
              <a:ext cx="1261287" cy="981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3325" tIns="53325" rIns="53325" bIns="53325" anchor="ctr" anchorCtr="0">
              <a:noAutofit/>
            </a:bodyPr>
            <a:lstStyle/>
            <a:p>
              <a:pPr marL="114300" marR="0" lvl="1" indent="-1143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entury Gothic"/>
                <a:buChar char="•"/>
              </a:pPr>
              <a:r>
                <a:rPr lang="es-MX" sz="1600" dirty="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Obra o labor</a:t>
              </a:r>
              <a:r>
                <a:rPr lang="es-MX" sz="1600" b="0" i="0" u="none" strike="noStrike" cap="none" dirty="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.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" name="Google Shape;120;p3">
            <a:extLst>
              <a:ext uri="{FF2B5EF4-FFF2-40B4-BE49-F238E27FC236}">
                <a16:creationId xmlns:a16="http://schemas.microsoft.com/office/drawing/2014/main" id="{2C94E741-CEAB-4831-BE29-F52BA02A5E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55271" y="512979"/>
            <a:ext cx="7441735" cy="1019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3600"/>
              <a:buFont typeface="Century Gothic"/>
              <a:buNone/>
            </a:pPr>
            <a:r>
              <a:rPr lang="es-MX" sz="3600" b="0" dirty="0">
                <a:solidFill>
                  <a:srgbClr val="1F3864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Lugar de ejecución</a:t>
            </a:r>
            <a:endParaRPr sz="3600" b="0" dirty="0">
              <a:solidFill>
                <a:srgbClr val="1F3864"/>
              </a:solidFill>
            </a:endParaRPr>
          </a:p>
        </p:txBody>
      </p:sp>
      <p:pic>
        <p:nvPicPr>
          <p:cNvPr id="34" name="Google Shape;121;p3">
            <a:extLst>
              <a:ext uri="{FF2B5EF4-FFF2-40B4-BE49-F238E27FC236}">
                <a16:creationId xmlns:a16="http://schemas.microsoft.com/office/drawing/2014/main" id="{034E72BD-7304-4181-B653-BF450F45CB1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46649" y="1532038"/>
            <a:ext cx="9298702" cy="49031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46218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114;p5">
            <a:extLst>
              <a:ext uri="{FF2B5EF4-FFF2-40B4-BE49-F238E27FC236}">
                <a16:creationId xmlns:a16="http://schemas.microsoft.com/office/drawing/2014/main" id="{F7B9B82A-B904-4E16-8AA4-D8B9E53D36A2}"/>
              </a:ext>
            </a:extLst>
          </p:cNvPr>
          <p:cNvSpPr/>
          <p:nvPr/>
        </p:nvSpPr>
        <p:spPr>
          <a:xfrm>
            <a:off x="8987839" y="5058193"/>
            <a:ext cx="2573100" cy="98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84;p6">
            <a:extLst>
              <a:ext uri="{FF2B5EF4-FFF2-40B4-BE49-F238E27FC236}">
                <a16:creationId xmlns:a16="http://schemas.microsoft.com/office/drawing/2014/main" id="{538909FF-A32A-46E1-88A9-2FC6E675FC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81008" y="818697"/>
            <a:ext cx="6429983" cy="744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3600"/>
              <a:buFont typeface="Century Gothic"/>
              <a:buNone/>
            </a:pPr>
            <a:r>
              <a:rPr lang="es-MX" sz="3600" b="0" dirty="0">
                <a:solidFill>
                  <a:srgbClr val="1F3864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Actividades del proyecto</a:t>
            </a:r>
            <a:endParaRPr sz="3600" b="0" dirty="0">
              <a:solidFill>
                <a:srgbClr val="1F386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6" name="Google Shape;145;p6">
            <a:extLst>
              <a:ext uri="{FF2B5EF4-FFF2-40B4-BE49-F238E27FC236}">
                <a16:creationId xmlns:a16="http://schemas.microsoft.com/office/drawing/2014/main" id="{903374C9-D863-4022-93C1-76D58CF7DC5C}"/>
              </a:ext>
            </a:extLst>
          </p:cNvPr>
          <p:cNvGrpSpPr/>
          <p:nvPr/>
        </p:nvGrpSpPr>
        <p:grpSpPr>
          <a:xfrm>
            <a:off x="384961" y="2508738"/>
            <a:ext cx="11422075" cy="3176803"/>
            <a:chOff x="0" y="701075"/>
            <a:chExt cx="11422075" cy="3176803"/>
          </a:xfrm>
        </p:grpSpPr>
        <p:sp>
          <p:nvSpPr>
            <p:cNvPr id="7" name="Google Shape;146;p6">
              <a:extLst>
                <a:ext uri="{FF2B5EF4-FFF2-40B4-BE49-F238E27FC236}">
                  <a16:creationId xmlns:a16="http://schemas.microsoft.com/office/drawing/2014/main" id="{98590928-87A9-4A3D-B88A-1484DF9E7171}"/>
                </a:ext>
              </a:extLst>
            </p:cNvPr>
            <p:cNvSpPr/>
            <p:nvPr/>
          </p:nvSpPr>
          <p:spPr>
            <a:xfrm>
              <a:off x="0" y="1042750"/>
              <a:ext cx="2089961" cy="2359179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rgbClr val="E1E1E1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196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147;p6">
              <a:extLst>
                <a:ext uri="{FF2B5EF4-FFF2-40B4-BE49-F238E27FC236}">
                  <a16:creationId xmlns:a16="http://schemas.microsoft.com/office/drawing/2014/main" id="{29BE8D31-FEF9-4DA2-9DC9-590EF2666C95}"/>
                </a:ext>
              </a:extLst>
            </p:cNvPr>
            <p:cNvSpPr txBox="1"/>
            <p:nvPr/>
          </p:nvSpPr>
          <p:spPr>
            <a:xfrm>
              <a:off x="61213" y="1103963"/>
              <a:ext cx="1967535" cy="22367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00" tIns="7600" rIns="7600" bIns="76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MX" sz="1200" b="0" i="0" u="none" strike="noStrike" cap="none" dirty="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Desarrollar el modelo de gestión e intervención comunitaria, preventiva, cívica y pedagógica para fortalecer acciones encaminadas a la prevención del delito y el mejoramiento de la convivencia y seguridad ciudadana en el departamento.</a:t>
              </a:r>
              <a:endParaRPr sz="1200" b="0" i="0" u="none" strike="noStrike" cap="none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" name="Google Shape;148;p6">
              <a:extLst>
                <a:ext uri="{FF2B5EF4-FFF2-40B4-BE49-F238E27FC236}">
                  <a16:creationId xmlns:a16="http://schemas.microsoft.com/office/drawing/2014/main" id="{1312B340-96A5-416B-9BC8-19FD8E5B1B81}"/>
                </a:ext>
              </a:extLst>
            </p:cNvPr>
            <p:cNvSpPr/>
            <p:nvPr/>
          </p:nvSpPr>
          <p:spPr>
            <a:xfrm>
              <a:off x="2107379" y="2106940"/>
              <a:ext cx="1439647" cy="353908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w="12700" cap="flat" cmpd="sng">
              <a:solidFill>
                <a:srgbClr val="345A9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49;p6">
              <a:extLst>
                <a:ext uri="{FF2B5EF4-FFF2-40B4-BE49-F238E27FC236}">
                  <a16:creationId xmlns:a16="http://schemas.microsoft.com/office/drawing/2014/main" id="{4489F587-E7F9-4C33-B37C-5A435AAFD23F}"/>
                </a:ext>
              </a:extLst>
            </p:cNvPr>
            <p:cNvSpPr txBox="1"/>
            <p:nvPr/>
          </p:nvSpPr>
          <p:spPr>
            <a:xfrm rot="-3879183">
              <a:off x="2362992" y="1533636"/>
              <a:ext cx="72211" cy="722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2" name="Google Shape;150;p6">
              <a:extLst>
                <a:ext uri="{FF2B5EF4-FFF2-40B4-BE49-F238E27FC236}">
                  <a16:creationId xmlns:a16="http://schemas.microsoft.com/office/drawing/2014/main" id="{D9EA334A-75B2-4C99-A29D-AD60F7017B36}"/>
                </a:ext>
              </a:extLst>
            </p:cNvPr>
            <p:cNvSpPr/>
            <p:nvPr/>
          </p:nvSpPr>
          <p:spPr>
            <a:xfrm>
              <a:off x="2769928" y="1273395"/>
              <a:ext cx="2335093" cy="1834286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rgbClr val="E1E1E1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196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51;p6">
              <a:extLst>
                <a:ext uri="{FF2B5EF4-FFF2-40B4-BE49-F238E27FC236}">
                  <a16:creationId xmlns:a16="http://schemas.microsoft.com/office/drawing/2014/main" id="{B266148B-A945-4BCB-9C7F-6A7DB52DF6CB}"/>
                </a:ext>
              </a:extLst>
            </p:cNvPr>
            <p:cNvSpPr txBox="1"/>
            <p:nvPr/>
          </p:nvSpPr>
          <p:spPr>
            <a:xfrm>
              <a:off x="2798663" y="1420475"/>
              <a:ext cx="2227645" cy="17268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00" tIns="7600" rIns="7600" bIns="76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MX" sz="1200" b="0" i="0" u="none" strike="noStrike" cap="none" dirty="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Brindar acompañamiento técnico y pedagógico a la comunidad para la mitigación de delitos y para el mejoramiento de la convivencia y seguridad ciudadana.</a:t>
              </a:r>
              <a:endParaRPr sz="1200" b="0" i="0" u="none" strike="noStrike" cap="none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4" name="Google Shape;152;p6">
              <a:extLst>
                <a:ext uri="{FF2B5EF4-FFF2-40B4-BE49-F238E27FC236}">
                  <a16:creationId xmlns:a16="http://schemas.microsoft.com/office/drawing/2014/main" id="{CA2B9A4F-FA7B-4FB8-8689-E884B9F2D420}"/>
                </a:ext>
              </a:extLst>
            </p:cNvPr>
            <p:cNvSpPr/>
            <p:nvPr/>
          </p:nvSpPr>
          <p:spPr>
            <a:xfrm rot="20438961">
              <a:off x="5079123" y="1859335"/>
              <a:ext cx="1133176" cy="36878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w="12700" cap="flat" cmpd="sng">
              <a:solidFill>
                <a:srgbClr val="3A66B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3;p6">
              <a:extLst>
                <a:ext uri="{FF2B5EF4-FFF2-40B4-BE49-F238E27FC236}">
                  <a16:creationId xmlns:a16="http://schemas.microsoft.com/office/drawing/2014/main" id="{C0F4B81B-E2E1-4788-B1FA-A91021E2156D}"/>
                </a:ext>
              </a:extLst>
            </p:cNvPr>
            <p:cNvSpPr txBox="1"/>
            <p:nvPr/>
          </p:nvSpPr>
          <p:spPr>
            <a:xfrm rot="-1161039">
              <a:off x="5549578" y="701075"/>
              <a:ext cx="56658" cy="566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" name="Google Shape;154;p6">
              <a:extLst>
                <a:ext uri="{FF2B5EF4-FFF2-40B4-BE49-F238E27FC236}">
                  <a16:creationId xmlns:a16="http://schemas.microsoft.com/office/drawing/2014/main" id="{D5E74FFA-EF8E-4DDA-967B-9C8547C05CC8}"/>
                </a:ext>
              </a:extLst>
            </p:cNvPr>
            <p:cNvSpPr/>
            <p:nvPr/>
          </p:nvSpPr>
          <p:spPr>
            <a:xfrm>
              <a:off x="6078978" y="1208257"/>
              <a:ext cx="5328231" cy="636508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rgbClr val="E1E1E1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196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55;p6">
              <a:extLst>
                <a:ext uri="{FF2B5EF4-FFF2-40B4-BE49-F238E27FC236}">
                  <a16:creationId xmlns:a16="http://schemas.microsoft.com/office/drawing/2014/main" id="{5ECFC08C-C1FB-487D-91E9-14A405AE77EC}"/>
                </a:ext>
              </a:extLst>
            </p:cNvPr>
            <p:cNvSpPr txBox="1"/>
            <p:nvPr/>
          </p:nvSpPr>
          <p:spPr>
            <a:xfrm>
              <a:off x="6131130" y="1280859"/>
              <a:ext cx="5290945" cy="5992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00" tIns="7600" rIns="7600" bIns="76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MX" sz="1200" b="0" i="0" u="none" strike="noStrike" cap="none" dirty="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Desplegar la estrategia de convivencia y seguridad ciudadana en el Valle del Cauca.</a:t>
              </a:r>
              <a:endParaRPr sz="1200" b="0" i="0" u="none" strike="noStrike" cap="none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" name="Google Shape;156;p6">
              <a:extLst>
                <a:ext uri="{FF2B5EF4-FFF2-40B4-BE49-F238E27FC236}">
                  <a16:creationId xmlns:a16="http://schemas.microsoft.com/office/drawing/2014/main" id="{602B190C-F170-443C-9FF9-DDCA0824F4ED}"/>
                </a:ext>
              </a:extLst>
            </p:cNvPr>
            <p:cNvSpPr/>
            <p:nvPr/>
          </p:nvSpPr>
          <p:spPr>
            <a:xfrm rot="1561676" flipV="1">
              <a:off x="5027090" y="2349917"/>
              <a:ext cx="1189833" cy="164119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w="12700" cap="flat" cmpd="sng">
              <a:solidFill>
                <a:srgbClr val="3A66B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57;p6">
              <a:extLst>
                <a:ext uri="{FF2B5EF4-FFF2-40B4-BE49-F238E27FC236}">
                  <a16:creationId xmlns:a16="http://schemas.microsoft.com/office/drawing/2014/main" id="{225F0816-997D-42F5-95D4-74A70B8DEB77}"/>
                </a:ext>
              </a:extLst>
            </p:cNvPr>
            <p:cNvSpPr txBox="1"/>
            <p:nvPr/>
          </p:nvSpPr>
          <p:spPr>
            <a:xfrm rot="1561676">
              <a:off x="5548162" y="1148452"/>
              <a:ext cx="59491" cy="594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0" name="Google Shape;158;p6">
              <a:extLst>
                <a:ext uri="{FF2B5EF4-FFF2-40B4-BE49-F238E27FC236}">
                  <a16:creationId xmlns:a16="http://schemas.microsoft.com/office/drawing/2014/main" id="{0F898148-E195-420A-9991-340012DB3B73}"/>
                </a:ext>
              </a:extLst>
            </p:cNvPr>
            <p:cNvSpPr/>
            <p:nvPr/>
          </p:nvSpPr>
          <p:spPr>
            <a:xfrm>
              <a:off x="6068344" y="2620334"/>
              <a:ext cx="5328231" cy="609631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rgbClr val="E1E1E1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196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159;p6">
              <a:extLst>
                <a:ext uri="{FF2B5EF4-FFF2-40B4-BE49-F238E27FC236}">
                  <a16:creationId xmlns:a16="http://schemas.microsoft.com/office/drawing/2014/main" id="{83B645A3-E6CF-4B0C-A3A3-914C8330D0EC}"/>
                </a:ext>
              </a:extLst>
            </p:cNvPr>
            <p:cNvSpPr txBox="1"/>
            <p:nvPr/>
          </p:nvSpPr>
          <p:spPr>
            <a:xfrm>
              <a:off x="6086198" y="2676609"/>
              <a:ext cx="5292521" cy="5739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00" tIns="7600" rIns="7600" bIns="76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MX" sz="1200" b="0" i="0" u="none" strike="noStrike" cap="none" dirty="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Gestionar integralmente la estrategia de formación y preparación del equipo para el desarrollo del modelo situacional del delito.</a:t>
              </a:r>
              <a:endParaRPr sz="1200" b="0" i="0" u="none" strike="noStrike" cap="none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3" name="Google Shape;161;p6">
              <a:extLst>
                <a:ext uri="{FF2B5EF4-FFF2-40B4-BE49-F238E27FC236}">
                  <a16:creationId xmlns:a16="http://schemas.microsoft.com/office/drawing/2014/main" id="{F4E34CB8-9076-4961-B1D0-10089207727E}"/>
                </a:ext>
              </a:extLst>
            </p:cNvPr>
            <p:cNvSpPr txBox="1"/>
            <p:nvPr/>
          </p:nvSpPr>
          <p:spPr>
            <a:xfrm rot="3633589">
              <a:off x="2374709" y="2751747"/>
              <a:ext cx="64493" cy="644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2" name="Google Shape;169;p6">
              <a:extLst>
                <a:ext uri="{FF2B5EF4-FFF2-40B4-BE49-F238E27FC236}">
                  <a16:creationId xmlns:a16="http://schemas.microsoft.com/office/drawing/2014/main" id="{1786EB70-4E36-443B-9270-D865B3401B12}"/>
                </a:ext>
              </a:extLst>
            </p:cNvPr>
            <p:cNvSpPr txBox="1"/>
            <p:nvPr/>
          </p:nvSpPr>
          <p:spPr>
            <a:xfrm rot="14160">
              <a:off x="5543476" y="3322251"/>
              <a:ext cx="50993" cy="509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6" name="Google Shape;173;p6">
              <a:extLst>
                <a:ext uri="{FF2B5EF4-FFF2-40B4-BE49-F238E27FC236}">
                  <a16:creationId xmlns:a16="http://schemas.microsoft.com/office/drawing/2014/main" id="{A37A85CF-8881-412B-8434-E5119F8B0618}"/>
                </a:ext>
              </a:extLst>
            </p:cNvPr>
            <p:cNvSpPr txBox="1"/>
            <p:nvPr/>
          </p:nvSpPr>
          <p:spPr>
            <a:xfrm rot="2596952">
              <a:off x="5549589" y="3805525"/>
              <a:ext cx="72353" cy="723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39" name="Google Shape;176;p6">
            <a:extLst>
              <a:ext uri="{FF2B5EF4-FFF2-40B4-BE49-F238E27FC236}">
                <a16:creationId xmlns:a16="http://schemas.microsoft.com/office/drawing/2014/main" id="{A41A7F9C-EA34-4061-95B3-8197E828F679}"/>
              </a:ext>
            </a:extLst>
          </p:cNvPr>
          <p:cNvSpPr/>
          <p:nvPr/>
        </p:nvSpPr>
        <p:spPr>
          <a:xfrm>
            <a:off x="274641" y="2553259"/>
            <a:ext cx="2310600" cy="288000"/>
          </a:xfrm>
          <a:prstGeom prst="roundRect">
            <a:avLst>
              <a:gd name="adj" fmla="val 16667"/>
            </a:avLst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600" b="1" i="0" u="none" strike="noStrike" cap="none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Específico 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177;p6">
            <a:extLst>
              <a:ext uri="{FF2B5EF4-FFF2-40B4-BE49-F238E27FC236}">
                <a16:creationId xmlns:a16="http://schemas.microsoft.com/office/drawing/2014/main" id="{8A74F056-2802-48E0-8691-3BA364BF4855}"/>
              </a:ext>
            </a:extLst>
          </p:cNvPr>
          <p:cNvSpPr/>
          <p:nvPr/>
        </p:nvSpPr>
        <p:spPr>
          <a:xfrm>
            <a:off x="3450221" y="2870455"/>
            <a:ext cx="1656000" cy="288000"/>
          </a:xfrm>
          <a:prstGeom prst="roundRect">
            <a:avLst>
              <a:gd name="adj" fmla="val 16667"/>
            </a:avLst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600" b="1" i="0" u="none" strike="noStrike" cap="none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Actividad 1.1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179;p6">
            <a:extLst>
              <a:ext uri="{FF2B5EF4-FFF2-40B4-BE49-F238E27FC236}">
                <a16:creationId xmlns:a16="http://schemas.microsoft.com/office/drawing/2014/main" id="{F21DA719-7117-429E-975C-696514FD781E}"/>
              </a:ext>
            </a:extLst>
          </p:cNvPr>
          <p:cNvSpPr/>
          <p:nvPr/>
        </p:nvSpPr>
        <p:spPr>
          <a:xfrm>
            <a:off x="7953550" y="2829058"/>
            <a:ext cx="2349008" cy="252000"/>
          </a:xfrm>
          <a:prstGeom prst="roundRect">
            <a:avLst>
              <a:gd name="adj" fmla="val 16667"/>
            </a:avLst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600" b="1" i="0" u="none" strike="noStrike" cap="none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Subactividad 1.1.1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179;p6">
            <a:extLst>
              <a:ext uri="{FF2B5EF4-FFF2-40B4-BE49-F238E27FC236}">
                <a16:creationId xmlns:a16="http://schemas.microsoft.com/office/drawing/2014/main" id="{F800D85E-8F63-4AEE-B65D-CE479D744B85}"/>
              </a:ext>
            </a:extLst>
          </p:cNvPr>
          <p:cNvSpPr/>
          <p:nvPr/>
        </p:nvSpPr>
        <p:spPr>
          <a:xfrm>
            <a:off x="7953550" y="4192143"/>
            <a:ext cx="2349008" cy="252000"/>
          </a:xfrm>
          <a:prstGeom prst="roundRect">
            <a:avLst>
              <a:gd name="adj" fmla="val 16667"/>
            </a:avLst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600" b="1" i="0" u="none" strike="noStrike" cap="none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Subactividad 1.1.2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42884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MX" sz="3600" dirty="0" smtClean="0">
                <a:solidFill>
                  <a:srgbClr val="1F3864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Plan de trabajo Mediadores 2025</a:t>
            </a:r>
            <a:endParaRPr lang="es-CO" sz="3600" dirty="0"/>
          </a:p>
        </p:txBody>
      </p:sp>
      <p:sp>
        <p:nvSpPr>
          <p:cNvPr id="6" name="CuadroTexto 5"/>
          <p:cNvSpPr txBox="1"/>
          <p:nvPr/>
        </p:nvSpPr>
        <p:spPr>
          <a:xfrm>
            <a:off x="568171" y="2135304"/>
            <a:ext cx="108573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graphicFrame>
        <p:nvGraphicFramePr>
          <p:cNvPr id="7" name="Tab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5004100"/>
              </p:ext>
            </p:extLst>
          </p:nvPr>
        </p:nvGraphicFramePr>
        <p:xfrm>
          <a:off x="3130867" y="2135304"/>
          <a:ext cx="5930265" cy="4289043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366935">
                  <a:extLst>
                    <a:ext uri="{9D8B030D-6E8A-4147-A177-3AD203B41FA5}">
                      <a16:colId xmlns:a16="http://schemas.microsoft.com/office/drawing/2014/main" val="909729238"/>
                    </a:ext>
                  </a:extLst>
                </a:gridCol>
                <a:gridCol w="5563330">
                  <a:extLst>
                    <a:ext uri="{9D8B030D-6E8A-4147-A177-3AD203B41FA5}">
                      <a16:colId xmlns:a16="http://schemas.microsoft.com/office/drawing/2014/main" val="1698187054"/>
                    </a:ext>
                  </a:extLst>
                </a:gridCol>
              </a:tblGrid>
              <a:tr h="235034">
                <a:tc>
                  <a:txBody>
                    <a:bodyPr/>
                    <a:lstStyle/>
                    <a:p>
                      <a:pPr marL="22225" algn="ctr">
                        <a:lnSpc>
                          <a:spcPts val="1005"/>
                        </a:lnSpc>
                        <a:spcBef>
                          <a:spcPts val="10"/>
                        </a:spcBef>
                        <a:spcAft>
                          <a:spcPts val="0"/>
                        </a:spcAft>
                      </a:pPr>
                      <a:r>
                        <a:rPr lang="es-ES" sz="1100" b="1" spc="-2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No.</a:t>
                      </a:r>
                      <a:endParaRPr lang="es-CO" sz="1100" dirty="0">
                        <a:effectLst/>
                        <a:latin typeface="Century Gothic" panose="020B0502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ts val="995"/>
                        </a:lnSpc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endParaRPr lang="es-ES" sz="1100" b="1" dirty="0" smtClean="0">
                        <a:effectLst/>
                        <a:latin typeface="Century Gothic" panose="020B0502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21590" algn="ctr">
                        <a:lnSpc>
                          <a:spcPts val="995"/>
                        </a:lnSpc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es-ES" sz="1100" b="1" dirty="0" smtClean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ACTIVIDADES</a:t>
                      </a:r>
                      <a:r>
                        <a:rPr lang="es-ES" sz="1100" b="1" spc="215" dirty="0" smtClean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b="1" spc="-1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PRINCIPALES</a:t>
                      </a:r>
                      <a:endParaRPr lang="es-CO" sz="1100" dirty="0">
                        <a:effectLst/>
                        <a:latin typeface="Century Gothic" panose="020B0502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371921"/>
                  </a:ext>
                </a:extLst>
              </a:tr>
              <a:tr h="347697">
                <a:tc>
                  <a:txBody>
                    <a:bodyPr/>
                    <a:lstStyle/>
                    <a:p>
                      <a:pPr marL="22860" algn="ctr">
                        <a:spcBef>
                          <a:spcPts val="750"/>
                        </a:spcBef>
                        <a:spcAft>
                          <a:spcPts val="0"/>
                        </a:spcAft>
                      </a:pPr>
                      <a:r>
                        <a:rPr lang="es-ES" sz="1100" spc="-25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1.1</a:t>
                      </a:r>
                      <a:endParaRPr lang="es-CO" sz="1100">
                        <a:effectLst/>
                        <a:latin typeface="Century Gothic" panose="020B0502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1590" algn="l">
                        <a:lnSpc>
                          <a:spcPts val="1200"/>
                        </a:lnSpc>
                        <a:spcBef>
                          <a:spcPts val="35"/>
                        </a:spcBef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Realizar acompañamiento pedagógico a la comunidad para la mitigación de delitos y para el mejoramiento de la convivencia y seguridad ciudadana.</a:t>
                      </a:r>
                      <a:endParaRPr lang="es-CO" sz="1100" dirty="0">
                        <a:effectLst/>
                        <a:latin typeface="Century Gothic" panose="020B0502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458886"/>
                  </a:ext>
                </a:extLst>
              </a:tr>
              <a:tr h="347697">
                <a:tc>
                  <a:txBody>
                    <a:bodyPr/>
                    <a:lstStyle/>
                    <a:p>
                      <a:pPr marL="22860" algn="ctr">
                        <a:spcBef>
                          <a:spcPts val="750"/>
                        </a:spcBef>
                        <a:spcAft>
                          <a:spcPts val="0"/>
                        </a:spcAft>
                      </a:pPr>
                      <a:r>
                        <a:rPr lang="es-ES" sz="1100" spc="-25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1.2</a:t>
                      </a:r>
                      <a:endParaRPr lang="es-CO" sz="1100">
                        <a:effectLst/>
                        <a:latin typeface="Century Gothic" panose="020B0502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1590" algn="l">
                        <a:lnSpc>
                          <a:spcPts val="1200"/>
                        </a:lnSpc>
                        <a:spcBef>
                          <a:spcPts val="35"/>
                        </a:spcBef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Implementar</a:t>
                      </a:r>
                      <a:r>
                        <a:rPr lang="es-ES" sz="1100" spc="4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acciones</a:t>
                      </a:r>
                      <a:r>
                        <a:rPr lang="es-ES" sz="1100" spc="4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educativas</a:t>
                      </a:r>
                      <a:r>
                        <a:rPr lang="es-ES" sz="1100" spc="4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y</a:t>
                      </a:r>
                      <a:r>
                        <a:rPr lang="es-ES" sz="1100" spc="4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formativas</a:t>
                      </a:r>
                      <a:r>
                        <a:rPr lang="es-ES" sz="1100" spc="4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que</a:t>
                      </a:r>
                      <a:r>
                        <a:rPr lang="es-ES" sz="1100" spc="4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promuevan</a:t>
                      </a:r>
                      <a:r>
                        <a:rPr lang="es-ES" sz="1100" spc="4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la</a:t>
                      </a:r>
                      <a:r>
                        <a:rPr lang="es-ES" sz="1100" spc="4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seguridad,</a:t>
                      </a:r>
                      <a:r>
                        <a:rPr lang="es-ES" sz="1100" spc="4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la</a:t>
                      </a:r>
                      <a:r>
                        <a:rPr lang="es-ES" sz="1100" spc="4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cultura ciudadana y la convivencia pacífica entre los habitantes.</a:t>
                      </a:r>
                      <a:endParaRPr lang="es-CO" sz="1100" dirty="0">
                        <a:effectLst/>
                        <a:latin typeface="Century Gothic" panose="020B0502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1201984"/>
                  </a:ext>
                </a:extLst>
              </a:tr>
              <a:tr h="556031">
                <a:tc>
                  <a:txBody>
                    <a:bodyPr/>
                    <a:lstStyle/>
                    <a:p>
                      <a:pPr marL="22860" algn="ctr">
                        <a:spcBef>
                          <a:spcPts val="750"/>
                        </a:spcBef>
                        <a:spcAft>
                          <a:spcPts val="0"/>
                        </a:spcAft>
                      </a:pPr>
                      <a:r>
                        <a:rPr lang="es-ES" sz="1100" spc="-25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1.3</a:t>
                      </a:r>
                      <a:endParaRPr lang="es-CO" sz="1100">
                        <a:effectLst/>
                        <a:latin typeface="Century Gothic" panose="020B0502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1590" algn="l">
                        <a:spcBef>
                          <a:spcPts val="35"/>
                        </a:spcBef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Coordinar</a:t>
                      </a:r>
                      <a:r>
                        <a:rPr lang="es-ES" sz="1100" spc="17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y</a:t>
                      </a:r>
                      <a:r>
                        <a:rPr lang="es-ES" sz="1100" spc="16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articular</a:t>
                      </a:r>
                      <a:r>
                        <a:rPr lang="es-ES" sz="1100" spc="18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esfuerzos</a:t>
                      </a:r>
                      <a:r>
                        <a:rPr lang="es-ES" sz="1100" spc="17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con</a:t>
                      </a:r>
                      <a:r>
                        <a:rPr lang="es-ES" sz="1100" spc="17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las</a:t>
                      </a:r>
                      <a:r>
                        <a:rPr lang="es-ES" sz="1100" spc="18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autoridades</a:t>
                      </a:r>
                      <a:r>
                        <a:rPr lang="es-ES" sz="1100" spc="18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competentes</a:t>
                      </a:r>
                      <a:r>
                        <a:rPr lang="es-ES" sz="1100" spc="17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para</a:t>
                      </a:r>
                      <a:r>
                        <a:rPr lang="es-ES" sz="1100" spc="17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fortalecer</a:t>
                      </a:r>
                      <a:r>
                        <a:rPr lang="es-ES" sz="1100" spc="17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la</a:t>
                      </a:r>
                      <a:r>
                        <a:rPr lang="es-ES" sz="1100" spc="17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spc="-1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seguridad</a:t>
                      </a:r>
                      <a:endParaRPr lang="es-CO" sz="1100" dirty="0">
                        <a:effectLst/>
                        <a:latin typeface="Century Gothic" panose="020B0502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21590" algn="l">
                        <a:lnSpc>
                          <a:spcPts val="995"/>
                        </a:lnSpc>
                        <a:spcBef>
                          <a:spcPts val="350"/>
                        </a:spcBef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integral</a:t>
                      </a:r>
                      <a:r>
                        <a:rPr lang="es-ES" sz="1100" spc="-4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en</a:t>
                      </a:r>
                      <a:r>
                        <a:rPr lang="es-ES" sz="1100" spc="-5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cada</a:t>
                      </a:r>
                      <a:r>
                        <a:rPr lang="es-ES" sz="1100" spc="-4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spc="-1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municipio.</a:t>
                      </a:r>
                      <a:endParaRPr lang="es-CO" sz="1100" dirty="0">
                        <a:effectLst/>
                        <a:latin typeface="Century Gothic" panose="020B0502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5557604"/>
                  </a:ext>
                </a:extLst>
              </a:tr>
              <a:tr h="347697">
                <a:tc>
                  <a:txBody>
                    <a:bodyPr/>
                    <a:lstStyle/>
                    <a:p>
                      <a:pPr marL="22860" algn="ctr">
                        <a:spcBef>
                          <a:spcPts val="750"/>
                        </a:spcBef>
                        <a:spcAft>
                          <a:spcPts val="0"/>
                        </a:spcAft>
                      </a:pPr>
                      <a:r>
                        <a:rPr lang="es-ES" sz="1100" spc="-25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1.4</a:t>
                      </a:r>
                      <a:endParaRPr lang="es-CO" sz="1100">
                        <a:effectLst/>
                        <a:latin typeface="Century Gothic" panose="020B0502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1590" algn="l">
                        <a:lnSpc>
                          <a:spcPts val="1200"/>
                        </a:lnSpc>
                        <a:spcBef>
                          <a:spcPts val="35"/>
                        </a:spcBef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Incentivar el uso y</a:t>
                      </a:r>
                      <a:r>
                        <a:rPr lang="es-ES" sz="1100" spc="-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reconocimiento de rutas turísticas y espacios públicos seguros,</a:t>
                      </a:r>
                      <a:r>
                        <a:rPr lang="es-ES" sz="1100" spc="-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contribuyendo al desarrollo local y a la percepción positiva de seguridad.</a:t>
                      </a:r>
                      <a:endParaRPr lang="es-CO" sz="1100" dirty="0">
                        <a:effectLst/>
                        <a:latin typeface="Century Gothic" panose="020B0502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1237339"/>
                  </a:ext>
                </a:extLst>
              </a:tr>
              <a:tr h="347697">
                <a:tc>
                  <a:txBody>
                    <a:bodyPr/>
                    <a:lstStyle/>
                    <a:p>
                      <a:pPr marL="22860" algn="ctr">
                        <a:spcBef>
                          <a:spcPts val="750"/>
                        </a:spcBef>
                        <a:spcAft>
                          <a:spcPts val="0"/>
                        </a:spcAft>
                      </a:pPr>
                      <a:r>
                        <a:rPr lang="es-ES" sz="1100" spc="-25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1.5</a:t>
                      </a:r>
                      <a:endParaRPr lang="es-CO" sz="1100">
                        <a:effectLst/>
                        <a:latin typeface="Century Gothic" panose="020B0502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1590" algn="l">
                        <a:lnSpc>
                          <a:spcPts val="1200"/>
                        </a:lnSpc>
                        <a:spcBef>
                          <a:spcPts val="35"/>
                        </a:spcBef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Fomentar</a:t>
                      </a:r>
                      <a:r>
                        <a:rPr lang="es-ES" sz="1100" spc="4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el</a:t>
                      </a:r>
                      <a:r>
                        <a:rPr lang="es-ES" sz="1100" spc="4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buen</a:t>
                      </a:r>
                      <a:r>
                        <a:rPr lang="es-ES" sz="1100" spc="4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uso</a:t>
                      </a:r>
                      <a:r>
                        <a:rPr lang="es-ES" sz="1100" spc="4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y</a:t>
                      </a:r>
                      <a:r>
                        <a:rPr lang="es-ES" sz="1100" spc="4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cuidado</a:t>
                      </a:r>
                      <a:r>
                        <a:rPr lang="es-ES" sz="1100" spc="4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del</a:t>
                      </a:r>
                      <a:r>
                        <a:rPr lang="es-ES" sz="1100" spc="4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espacio</a:t>
                      </a:r>
                      <a:r>
                        <a:rPr lang="es-ES" sz="1100" spc="4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público,</a:t>
                      </a:r>
                      <a:r>
                        <a:rPr lang="es-ES" sz="1100" spc="4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promoviendo</a:t>
                      </a:r>
                      <a:r>
                        <a:rPr lang="es-ES" sz="1100" spc="4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el</a:t>
                      </a:r>
                      <a:r>
                        <a:rPr lang="es-ES" sz="1100" spc="4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respeto</a:t>
                      </a:r>
                      <a:r>
                        <a:rPr lang="es-ES" sz="1100" spc="4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y</a:t>
                      </a:r>
                      <a:r>
                        <a:rPr lang="es-ES" sz="1100" spc="4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la responsabilidad</a:t>
                      </a:r>
                      <a:r>
                        <a:rPr lang="es-ES" sz="1100" spc="-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ciudadana.</a:t>
                      </a:r>
                      <a:endParaRPr lang="es-CO" sz="1100" dirty="0">
                        <a:effectLst/>
                        <a:latin typeface="Century Gothic" panose="020B0502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8026355"/>
                  </a:ext>
                </a:extLst>
              </a:tr>
              <a:tr h="347697">
                <a:tc>
                  <a:txBody>
                    <a:bodyPr/>
                    <a:lstStyle/>
                    <a:p>
                      <a:pPr marL="22860" algn="ctr">
                        <a:spcBef>
                          <a:spcPts val="750"/>
                        </a:spcBef>
                        <a:spcAft>
                          <a:spcPts val="0"/>
                        </a:spcAft>
                      </a:pPr>
                      <a:r>
                        <a:rPr lang="es-ES" sz="1100" spc="-25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1.6</a:t>
                      </a:r>
                      <a:endParaRPr lang="es-CO" sz="1100">
                        <a:effectLst/>
                        <a:latin typeface="Century Gothic" panose="020B0502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1590" algn="l">
                        <a:lnSpc>
                          <a:spcPts val="1200"/>
                        </a:lnSpc>
                        <a:spcBef>
                          <a:spcPts val="35"/>
                        </a:spcBef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Promover</a:t>
                      </a:r>
                      <a:r>
                        <a:rPr lang="es-ES" sz="1100" spc="12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la</a:t>
                      </a:r>
                      <a:r>
                        <a:rPr lang="es-ES" sz="1100" spc="13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solidaridad, el</a:t>
                      </a:r>
                      <a:r>
                        <a:rPr lang="es-ES" sz="1100" spc="13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orden</a:t>
                      </a:r>
                      <a:r>
                        <a:rPr lang="es-ES" sz="1100" spc="12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y la</a:t>
                      </a:r>
                      <a:r>
                        <a:rPr lang="es-ES" sz="1100" spc="13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regulación</a:t>
                      </a:r>
                      <a:r>
                        <a:rPr lang="es-ES" sz="1100" spc="13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de</a:t>
                      </a:r>
                      <a:r>
                        <a:rPr lang="es-ES" sz="1100" spc="12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actividades</a:t>
                      </a:r>
                      <a:r>
                        <a:rPr lang="es-ES" sz="1100" spc="13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colectivas,</a:t>
                      </a:r>
                      <a:r>
                        <a:rPr lang="es-ES" sz="1100" spc="12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factores</a:t>
                      </a:r>
                      <a:r>
                        <a:rPr lang="es-ES" sz="1100" spc="13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esenciales para mejorar la seguridad y la convivencia entre vecinos.</a:t>
                      </a:r>
                      <a:endParaRPr lang="es-CO" sz="1100" dirty="0">
                        <a:effectLst/>
                        <a:latin typeface="Century Gothic" panose="020B0502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3286693"/>
                  </a:ext>
                </a:extLst>
              </a:tr>
              <a:tr h="363347">
                <a:tc>
                  <a:txBody>
                    <a:bodyPr/>
                    <a:lstStyle/>
                    <a:p>
                      <a:pPr marL="22860" algn="ctr">
                        <a:spcBef>
                          <a:spcPts val="750"/>
                        </a:spcBef>
                        <a:spcAft>
                          <a:spcPts val="0"/>
                        </a:spcAft>
                      </a:pPr>
                      <a:r>
                        <a:rPr lang="es-ES" sz="1100" spc="-25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1.7</a:t>
                      </a:r>
                      <a:endParaRPr lang="es-CO" sz="1100">
                        <a:effectLst/>
                        <a:latin typeface="Century Gothic" panose="020B0502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1590" algn="l">
                        <a:spcBef>
                          <a:spcPts val="755"/>
                        </a:spcBef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Realizar</a:t>
                      </a:r>
                      <a:r>
                        <a:rPr lang="es-ES" sz="1100" spc="-8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actividades</a:t>
                      </a:r>
                      <a:r>
                        <a:rPr lang="es-ES" sz="1100" spc="-7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de</a:t>
                      </a:r>
                      <a:r>
                        <a:rPr lang="es-ES" sz="1100" spc="-7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 smtClean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escucha</a:t>
                      </a:r>
                      <a:r>
                        <a:rPr lang="es-ES" sz="1100" spc="-70" dirty="0" smtClean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activa</a:t>
                      </a:r>
                      <a:r>
                        <a:rPr lang="es-ES" sz="1100" spc="-7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con</a:t>
                      </a:r>
                      <a:r>
                        <a:rPr lang="es-ES" sz="1100" spc="-7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la</a:t>
                      </a:r>
                      <a:r>
                        <a:rPr lang="es-ES" sz="1100" spc="-7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comunidad</a:t>
                      </a:r>
                      <a:r>
                        <a:rPr lang="es-ES" sz="1100" spc="-7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para</a:t>
                      </a:r>
                      <a:r>
                        <a:rPr lang="es-ES" sz="1100" spc="-7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crear</a:t>
                      </a:r>
                      <a:r>
                        <a:rPr lang="es-ES" sz="1100" spc="-7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Rutas</a:t>
                      </a:r>
                      <a:r>
                        <a:rPr lang="es-ES" sz="1100" spc="-7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de</a:t>
                      </a:r>
                      <a:r>
                        <a:rPr lang="es-ES" sz="1100" spc="-7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spc="-1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Intervención</a:t>
                      </a:r>
                      <a:endParaRPr lang="es-CO" sz="1100" dirty="0">
                        <a:effectLst/>
                        <a:latin typeface="Century Gothic" panose="020B0502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0519596"/>
                  </a:ext>
                </a:extLst>
              </a:tr>
              <a:tr h="347697">
                <a:tc>
                  <a:txBody>
                    <a:bodyPr/>
                    <a:lstStyle/>
                    <a:p>
                      <a:pPr marL="22860" algn="ctr">
                        <a:spcBef>
                          <a:spcPts val="750"/>
                        </a:spcBef>
                        <a:spcAft>
                          <a:spcPts val="0"/>
                        </a:spcAft>
                      </a:pPr>
                      <a:r>
                        <a:rPr lang="es-ES" sz="1100" spc="-25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1.8</a:t>
                      </a:r>
                      <a:endParaRPr lang="es-CO" sz="1100">
                        <a:effectLst/>
                        <a:latin typeface="Century Gothic" panose="020B0502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1590" algn="l">
                        <a:lnSpc>
                          <a:spcPts val="1200"/>
                        </a:lnSpc>
                        <a:spcBef>
                          <a:spcPts val="35"/>
                        </a:spcBef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Campaña de difusión y sensibilización a la comunidad para la mitigación de delitos y para el mejoramiento de la convivencia y seguridad ciudadana</a:t>
                      </a:r>
                      <a:endParaRPr lang="es-CO" sz="1100" dirty="0">
                        <a:effectLst/>
                        <a:latin typeface="Century Gothic" panose="020B0502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0933474"/>
                  </a:ext>
                </a:extLst>
              </a:tr>
              <a:tr h="302789">
                <a:tc>
                  <a:txBody>
                    <a:bodyPr/>
                    <a:lstStyle/>
                    <a:p>
                      <a:pPr marL="22860" algn="ctr">
                        <a:lnSpc>
                          <a:spcPts val="1060"/>
                        </a:lnSpc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r>
                        <a:rPr lang="es-ES" sz="1100" spc="-25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1.9</a:t>
                      </a:r>
                      <a:endParaRPr lang="es-CO" sz="1100">
                        <a:effectLst/>
                        <a:latin typeface="Century Gothic" panose="020B0502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1590" algn="l">
                        <a:lnSpc>
                          <a:spcPts val="1055"/>
                        </a:lnSpc>
                        <a:spcBef>
                          <a:spcPts val="90"/>
                        </a:spcBef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Realizar</a:t>
                      </a:r>
                      <a:r>
                        <a:rPr lang="es-ES" sz="1100" spc="2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intervención</a:t>
                      </a:r>
                      <a:r>
                        <a:rPr lang="es-ES" sz="1100" spc="2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en</a:t>
                      </a:r>
                      <a:r>
                        <a:rPr lang="es-ES" sz="1100" spc="2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instituciones</a:t>
                      </a:r>
                      <a:r>
                        <a:rPr lang="es-ES" sz="1100" spc="2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educativas</a:t>
                      </a:r>
                      <a:r>
                        <a:rPr lang="es-ES" sz="1100" spc="3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fortaleciendo</a:t>
                      </a:r>
                      <a:r>
                        <a:rPr lang="es-ES" sz="1100" spc="2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la</a:t>
                      </a:r>
                      <a:r>
                        <a:rPr lang="es-ES" sz="1100" spc="2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Convivencia</a:t>
                      </a:r>
                      <a:r>
                        <a:rPr lang="es-ES" sz="1100" spc="2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spc="-1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Escolar</a:t>
                      </a:r>
                      <a:endParaRPr lang="es-CO" sz="1100" dirty="0">
                        <a:effectLst/>
                        <a:latin typeface="Century Gothic" panose="020B0502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4301390"/>
                  </a:ext>
                </a:extLst>
              </a:tr>
              <a:tr h="363347">
                <a:tc>
                  <a:txBody>
                    <a:bodyPr/>
                    <a:lstStyle/>
                    <a:p>
                      <a:pPr marL="21590" algn="ctr">
                        <a:spcBef>
                          <a:spcPts val="750"/>
                        </a:spcBef>
                        <a:spcAft>
                          <a:spcPts val="0"/>
                        </a:spcAft>
                      </a:pPr>
                      <a:r>
                        <a:rPr lang="es-ES" sz="1100" spc="-2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1.10</a:t>
                      </a:r>
                      <a:endParaRPr lang="es-CO" sz="1100">
                        <a:effectLst/>
                        <a:latin typeface="Century Gothic" panose="020B0502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1590" algn="l">
                        <a:lnSpc>
                          <a:spcPts val="1200"/>
                        </a:lnSpc>
                        <a:spcBef>
                          <a:spcPts val="35"/>
                        </a:spcBef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Realizar</a:t>
                      </a:r>
                      <a:r>
                        <a:rPr lang="es-ES" sz="1100" spc="2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ruta</a:t>
                      </a:r>
                      <a:r>
                        <a:rPr lang="es-ES" sz="1100" spc="2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multiplicadora</a:t>
                      </a:r>
                      <a:r>
                        <a:rPr lang="es-ES" sz="1100" spc="2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de</a:t>
                      </a:r>
                      <a:r>
                        <a:rPr lang="es-ES" sz="1100" spc="2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habilidades</a:t>
                      </a:r>
                      <a:r>
                        <a:rPr lang="es-ES" sz="1100" spc="2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y</a:t>
                      </a:r>
                      <a:r>
                        <a:rPr lang="es-ES" sz="1100" spc="2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capacidades</a:t>
                      </a:r>
                      <a:r>
                        <a:rPr lang="es-ES" sz="1100" spc="2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para</a:t>
                      </a:r>
                      <a:r>
                        <a:rPr lang="es-ES" sz="1100" spc="2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la</a:t>
                      </a:r>
                      <a:r>
                        <a:rPr lang="es-ES" sz="1100" spc="2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construcción</a:t>
                      </a:r>
                      <a:r>
                        <a:rPr lang="es-ES" sz="1100" spc="2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de</a:t>
                      </a:r>
                      <a:r>
                        <a:rPr lang="es-ES" sz="1100" spc="2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entornos seguros y confiables.</a:t>
                      </a:r>
                      <a:endParaRPr lang="es-CO" sz="1100" dirty="0">
                        <a:effectLst/>
                        <a:latin typeface="Century Gothic" panose="020B0502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008953"/>
                  </a:ext>
                </a:extLst>
              </a:tr>
              <a:tr h="363347">
                <a:tc>
                  <a:txBody>
                    <a:bodyPr/>
                    <a:lstStyle/>
                    <a:p>
                      <a:pPr marL="21590" algn="ctr">
                        <a:spcBef>
                          <a:spcPts val="750"/>
                        </a:spcBef>
                        <a:spcAft>
                          <a:spcPts val="0"/>
                        </a:spcAft>
                      </a:pPr>
                      <a:r>
                        <a:rPr lang="es-ES" sz="1100" spc="-2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1.11</a:t>
                      </a:r>
                      <a:endParaRPr lang="es-CO" sz="1100">
                        <a:effectLst/>
                        <a:latin typeface="Century Gothic" panose="020B0502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1590" algn="l">
                        <a:lnSpc>
                          <a:spcPts val="1200"/>
                        </a:lnSpc>
                        <a:spcBef>
                          <a:spcPts val="35"/>
                        </a:spcBef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Intervención en espacios de gran concurrencia de personas para fortalecer las habilidades y </a:t>
                      </a:r>
                      <a:r>
                        <a:rPr lang="es-ES" sz="1100" spc="-1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capacidades.</a:t>
                      </a:r>
                      <a:endParaRPr lang="es-CO" sz="1100" dirty="0">
                        <a:effectLst/>
                        <a:latin typeface="Century Gothic" panose="020B0502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79627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4533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MX" sz="3600" dirty="0" smtClean="0">
                <a:solidFill>
                  <a:srgbClr val="1F3864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Plan de trabajo Mediadores 2025</a:t>
            </a:r>
            <a:endParaRPr lang="es-CO" sz="3600" dirty="0"/>
          </a:p>
        </p:txBody>
      </p:sp>
      <p:sp>
        <p:nvSpPr>
          <p:cNvPr id="6" name="CuadroTexto 5"/>
          <p:cNvSpPr txBox="1"/>
          <p:nvPr/>
        </p:nvSpPr>
        <p:spPr>
          <a:xfrm>
            <a:off x="568171" y="2135304"/>
            <a:ext cx="108573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graphicFrame>
        <p:nvGraphicFramePr>
          <p:cNvPr id="4" name="Tab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5805489"/>
              </p:ext>
            </p:extLst>
          </p:nvPr>
        </p:nvGraphicFramePr>
        <p:xfrm>
          <a:off x="3130867" y="2135304"/>
          <a:ext cx="5930265" cy="1729886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249555">
                  <a:extLst>
                    <a:ext uri="{9D8B030D-6E8A-4147-A177-3AD203B41FA5}">
                      <a16:colId xmlns:a16="http://schemas.microsoft.com/office/drawing/2014/main" val="643956624"/>
                    </a:ext>
                  </a:extLst>
                </a:gridCol>
                <a:gridCol w="5680710">
                  <a:extLst>
                    <a:ext uri="{9D8B030D-6E8A-4147-A177-3AD203B41FA5}">
                      <a16:colId xmlns:a16="http://schemas.microsoft.com/office/drawing/2014/main" val="3115467753"/>
                    </a:ext>
                  </a:extLst>
                </a:gridCol>
              </a:tblGrid>
              <a:tr h="190646">
                <a:tc gridSpan="2">
                  <a:txBody>
                    <a:bodyPr/>
                    <a:lstStyle/>
                    <a:p>
                      <a:pPr marL="21590" marR="9525" algn="ctr">
                        <a:lnSpc>
                          <a:spcPts val="1020"/>
                        </a:lnSpc>
                        <a:spcBef>
                          <a:spcPts val="90"/>
                        </a:spcBef>
                        <a:spcAft>
                          <a:spcPts val="0"/>
                        </a:spcAft>
                      </a:pPr>
                      <a:r>
                        <a:rPr lang="es-ES" sz="1100" b="1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ACTIVIDADES</a:t>
                      </a:r>
                      <a:r>
                        <a:rPr lang="es-ES" sz="1100" b="1" spc="7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b="1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DIARIAS</a:t>
                      </a:r>
                      <a:r>
                        <a:rPr lang="es-ES" sz="1100" b="1" spc="8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b="1" spc="-1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COMPLEMENTARIAS</a:t>
                      </a:r>
                      <a:endParaRPr lang="es-CO" sz="1100" dirty="0">
                        <a:effectLst/>
                        <a:latin typeface="Century Gothic" panose="020B0502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818926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marL="21590" algn="l">
                        <a:spcBef>
                          <a:spcPts val="385"/>
                        </a:spcBef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s-CO" sz="1100">
                        <a:effectLst/>
                        <a:latin typeface="Century Gothic" panose="020B0502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22860" algn="ctr">
                        <a:spcBef>
                          <a:spcPts val="90"/>
                        </a:spcBef>
                        <a:spcAft>
                          <a:spcPts val="0"/>
                        </a:spcAft>
                      </a:pPr>
                      <a:r>
                        <a:rPr lang="es-ES" sz="1100" spc="-25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2.1</a:t>
                      </a:r>
                      <a:endParaRPr lang="es-CO" sz="1100">
                        <a:effectLst/>
                        <a:latin typeface="Century Gothic" panose="020B0502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1590" algn="l">
                        <a:lnSpc>
                          <a:spcPct val="111000"/>
                        </a:lnSpc>
                        <a:spcBef>
                          <a:spcPts val="815"/>
                        </a:spcBef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Apoyar</a:t>
                      </a:r>
                      <a:r>
                        <a:rPr lang="es-ES" sz="1100" spc="37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la</a:t>
                      </a:r>
                      <a:r>
                        <a:rPr lang="es-ES" sz="1100" spc="37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aplicación</a:t>
                      </a:r>
                      <a:r>
                        <a:rPr lang="es-ES" sz="1100" spc="37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del</a:t>
                      </a:r>
                      <a:r>
                        <a:rPr lang="es-ES" sz="1100" spc="37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protocolo</a:t>
                      </a:r>
                      <a:r>
                        <a:rPr lang="es-ES" sz="1100" spc="36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de</a:t>
                      </a:r>
                      <a:r>
                        <a:rPr lang="es-ES" sz="1100" spc="36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actuación</a:t>
                      </a:r>
                      <a:r>
                        <a:rPr lang="es-ES" sz="1100" spc="37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establecido</a:t>
                      </a:r>
                      <a:r>
                        <a:rPr lang="es-ES" sz="1100" spc="37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en</a:t>
                      </a:r>
                      <a:r>
                        <a:rPr lang="es-ES" sz="1100" spc="36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el</a:t>
                      </a:r>
                      <a:r>
                        <a:rPr lang="es-ES" sz="1100" spc="37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Decreto</a:t>
                      </a:r>
                      <a:r>
                        <a:rPr lang="es-ES" sz="1100" spc="36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003</a:t>
                      </a:r>
                      <a:r>
                        <a:rPr lang="es-ES" sz="1100" spc="37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de</a:t>
                      </a:r>
                      <a:r>
                        <a:rPr lang="es-ES" sz="1100" spc="36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2021, garantizando el respeto a los derechos y la seguridad durante las manifestaciones pacíficas.</a:t>
                      </a:r>
                      <a:endParaRPr lang="es-CO" sz="1100" dirty="0">
                        <a:effectLst/>
                        <a:latin typeface="Century Gothic" panose="020B0502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9199173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22860" algn="ctr">
                        <a:spcBef>
                          <a:spcPts val="750"/>
                        </a:spcBef>
                        <a:spcAft>
                          <a:spcPts val="0"/>
                        </a:spcAft>
                      </a:pPr>
                      <a:r>
                        <a:rPr lang="es-ES" sz="1100" spc="-25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2.2</a:t>
                      </a:r>
                      <a:endParaRPr lang="es-CO" sz="1100">
                        <a:effectLst/>
                        <a:latin typeface="Century Gothic" panose="020B0502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1590" algn="l">
                        <a:lnSpc>
                          <a:spcPts val="1200"/>
                        </a:lnSpc>
                        <a:spcBef>
                          <a:spcPts val="35"/>
                        </a:spcBef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Desarrollar</a:t>
                      </a:r>
                      <a:r>
                        <a:rPr lang="es-ES" sz="1100" spc="14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estrategias</a:t>
                      </a:r>
                      <a:r>
                        <a:rPr lang="es-ES" sz="1100" spc="14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pedagógicas</a:t>
                      </a:r>
                      <a:r>
                        <a:rPr lang="es-ES" sz="1100" spc="14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encaminadas</a:t>
                      </a:r>
                      <a:r>
                        <a:rPr lang="es-ES" sz="1100" spc="14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</a:t>
                      </a:r>
                      <a:r>
                        <a:rPr lang="es-ES" sz="1100" spc="13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promover</a:t>
                      </a:r>
                      <a:r>
                        <a:rPr lang="es-ES" sz="1100" spc="14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la</a:t>
                      </a:r>
                      <a:r>
                        <a:rPr lang="es-ES" sz="1100" spc="13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seguridad,</a:t>
                      </a:r>
                      <a:r>
                        <a:rPr lang="es-ES" sz="1100" spc="13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la</a:t>
                      </a:r>
                      <a:r>
                        <a:rPr lang="es-ES" sz="1100" spc="13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cultura</a:t>
                      </a:r>
                      <a:r>
                        <a:rPr lang="es-ES" sz="1100" spc="14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y</a:t>
                      </a:r>
                      <a:r>
                        <a:rPr lang="es-ES" sz="1100" spc="12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la convivencia</a:t>
                      </a:r>
                      <a:r>
                        <a:rPr lang="es-ES" sz="1100" spc="-2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ciudadana</a:t>
                      </a:r>
                      <a:endParaRPr lang="es-CO" sz="1100" dirty="0">
                        <a:effectLst/>
                        <a:latin typeface="Century Gothic" panose="020B0502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6200397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22860" algn="ctr">
                        <a:spcBef>
                          <a:spcPts val="750"/>
                        </a:spcBef>
                        <a:spcAft>
                          <a:spcPts val="0"/>
                        </a:spcAft>
                      </a:pPr>
                      <a:r>
                        <a:rPr lang="es-ES" sz="1100" spc="-25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2.3</a:t>
                      </a:r>
                      <a:endParaRPr lang="es-CO" sz="1100">
                        <a:effectLst/>
                        <a:latin typeface="Century Gothic" panose="020B0502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1590" algn="l">
                        <a:lnSpc>
                          <a:spcPts val="1200"/>
                        </a:lnSpc>
                        <a:spcBef>
                          <a:spcPts val="35"/>
                        </a:spcBef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Articular</a:t>
                      </a:r>
                      <a:r>
                        <a:rPr lang="es-ES" sz="1100" spc="36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y</a:t>
                      </a:r>
                      <a:r>
                        <a:rPr lang="es-ES" sz="1100" spc="34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coordinar</a:t>
                      </a:r>
                      <a:r>
                        <a:rPr lang="es-ES" sz="1100" spc="36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acciones</a:t>
                      </a:r>
                      <a:r>
                        <a:rPr lang="es-ES" sz="1100" spc="36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con</a:t>
                      </a:r>
                      <a:r>
                        <a:rPr lang="es-ES" sz="1100" spc="35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las</a:t>
                      </a:r>
                      <a:r>
                        <a:rPr lang="es-ES" sz="1100" spc="36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autoridades</a:t>
                      </a:r>
                      <a:r>
                        <a:rPr lang="es-ES" sz="1100" spc="36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competentes</a:t>
                      </a:r>
                      <a:r>
                        <a:rPr lang="es-ES" sz="1100" spc="36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para</a:t>
                      </a:r>
                      <a:r>
                        <a:rPr lang="es-ES" sz="1100" spc="35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apoyar</a:t>
                      </a:r>
                      <a:r>
                        <a:rPr lang="es-ES" sz="1100" spc="37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la</a:t>
                      </a:r>
                      <a:r>
                        <a:rPr lang="es-ES" sz="1100" spc="35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seguridad integral del Municipio</a:t>
                      </a:r>
                      <a:endParaRPr lang="es-CO" sz="1100" dirty="0">
                        <a:effectLst/>
                        <a:latin typeface="Century Gothic" panose="020B0502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7900048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22860" algn="ctr">
                        <a:spcBef>
                          <a:spcPts val="750"/>
                        </a:spcBef>
                        <a:spcAft>
                          <a:spcPts val="0"/>
                        </a:spcAft>
                      </a:pPr>
                      <a:r>
                        <a:rPr lang="es-ES" sz="1100" spc="-25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2.4</a:t>
                      </a:r>
                      <a:endParaRPr lang="es-CO" sz="1100">
                        <a:effectLst/>
                        <a:latin typeface="Century Gothic" panose="020B0502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1590" algn="l">
                        <a:lnSpc>
                          <a:spcPts val="1200"/>
                        </a:lnSpc>
                        <a:spcBef>
                          <a:spcPts val="35"/>
                        </a:spcBef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Promover</a:t>
                      </a:r>
                      <a:r>
                        <a:rPr lang="es-ES" sz="1100" spc="17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la</a:t>
                      </a:r>
                      <a:r>
                        <a:rPr lang="es-ES" sz="1100" spc="17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integración</a:t>
                      </a:r>
                      <a:r>
                        <a:rPr lang="es-ES" sz="1100" spc="17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entre</a:t>
                      </a:r>
                      <a:r>
                        <a:rPr lang="es-ES" sz="1100" spc="18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vecinos,</a:t>
                      </a:r>
                      <a:r>
                        <a:rPr lang="es-ES" sz="1100" spc="16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la</a:t>
                      </a:r>
                      <a:r>
                        <a:rPr lang="es-ES" sz="1100" spc="18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solidaridad,</a:t>
                      </a:r>
                      <a:r>
                        <a:rPr lang="es-ES" sz="1100" spc="17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el</a:t>
                      </a:r>
                      <a:r>
                        <a:rPr lang="es-ES" sz="1100" spc="18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orden</a:t>
                      </a:r>
                      <a:r>
                        <a:rPr lang="es-ES" sz="1100" spc="17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y</a:t>
                      </a:r>
                      <a:r>
                        <a:rPr lang="es-ES" sz="1100" spc="17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la</a:t>
                      </a:r>
                      <a:r>
                        <a:rPr lang="es-ES" sz="1100" spc="17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regulación</a:t>
                      </a:r>
                      <a:r>
                        <a:rPr lang="es-ES" sz="1100" spc="18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de</a:t>
                      </a:r>
                      <a:r>
                        <a:rPr lang="es-ES" sz="1100" spc="17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actividades colectivas factores que incrementan la seguridad</a:t>
                      </a:r>
                      <a:endParaRPr lang="es-CO" sz="1100" dirty="0">
                        <a:effectLst/>
                        <a:latin typeface="Century Gothic" panose="020B0502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3091462"/>
                  </a:ext>
                </a:extLst>
              </a:tr>
            </a:tbl>
          </a:graphicData>
        </a:graphic>
      </p:graphicFrame>
      <p:graphicFrame>
        <p:nvGraphicFramePr>
          <p:cNvPr id="5" name="Tab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3726203"/>
              </p:ext>
            </p:extLst>
          </p:nvPr>
        </p:nvGraphicFramePr>
        <p:xfrm>
          <a:off x="3130867" y="4179460"/>
          <a:ext cx="5930265" cy="1886355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249555">
                  <a:extLst>
                    <a:ext uri="{9D8B030D-6E8A-4147-A177-3AD203B41FA5}">
                      <a16:colId xmlns:a16="http://schemas.microsoft.com/office/drawing/2014/main" val="3971819246"/>
                    </a:ext>
                  </a:extLst>
                </a:gridCol>
                <a:gridCol w="5680710">
                  <a:extLst>
                    <a:ext uri="{9D8B030D-6E8A-4147-A177-3AD203B41FA5}">
                      <a16:colId xmlns:a16="http://schemas.microsoft.com/office/drawing/2014/main" val="2563748040"/>
                    </a:ext>
                  </a:extLst>
                </a:gridCol>
              </a:tblGrid>
              <a:tr h="241620">
                <a:tc gridSpan="2">
                  <a:txBody>
                    <a:bodyPr/>
                    <a:lstStyle/>
                    <a:p>
                      <a:pPr marL="21590" marR="635" algn="ctr">
                        <a:lnSpc>
                          <a:spcPts val="1020"/>
                        </a:lnSpc>
                        <a:spcBef>
                          <a:spcPts val="90"/>
                        </a:spcBef>
                        <a:spcAft>
                          <a:spcPts val="0"/>
                        </a:spcAft>
                      </a:pPr>
                      <a:r>
                        <a:rPr lang="es-ES" sz="1100" b="1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ACTIVIDADES</a:t>
                      </a:r>
                      <a:r>
                        <a:rPr lang="es-ES" sz="1100" b="1" spc="9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b="1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DE</a:t>
                      </a:r>
                      <a:r>
                        <a:rPr lang="es-ES" sz="1100" b="1" spc="9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b="1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DESPLIEGUE</a:t>
                      </a:r>
                      <a:r>
                        <a:rPr lang="es-ES" sz="1100" b="1" spc="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b="1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PISCC</a:t>
                      </a:r>
                      <a:r>
                        <a:rPr lang="es-ES" sz="1100" b="1" spc="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b="1" spc="-1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DEPARTAMENTAL</a:t>
                      </a:r>
                      <a:endParaRPr lang="es-CO" sz="1100" dirty="0">
                        <a:effectLst/>
                        <a:latin typeface="Century Gothic" panose="020B0502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8040509"/>
                  </a:ext>
                </a:extLst>
              </a:tr>
              <a:tr h="337351">
                <a:tc>
                  <a:txBody>
                    <a:bodyPr/>
                    <a:lstStyle/>
                    <a:p>
                      <a:pPr marL="22860" algn="ctr">
                        <a:lnSpc>
                          <a:spcPts val="1060"/>
                        </a:lnSpc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r>
                        <a:rPr lang="es-ES" sz="1100" spc="-2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3.1</a:t>
                      </a:r>
                      <a:endParaRPr lang="es-CO" sz="1100" dirty="0">
                        <a:effectLst/>
                        <a:latin typeface="Century Gothic" panose="020B0502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4935" algn="l">
                        <a:lnSpc>
                          <a:spcPts val="1055"/>
                        </a:lnSpc>
                        <a:spcBef>
                          <a:spcPts val="90"/>
                        </a:spcBef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Fortalecimiento</a:t>
                      </a:r>
                      <a:r>
                        <a:rPr lang="es-ES" sz="1100" spc="-2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de</a:t>
                      </a:r>
                      <a:r>
                        <a:rPr lang="es-ES" sz="1100" spc="-2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capacidades</a:t>
                      </a:r>
                      <a:r>
                        <a:rPr lang="es-ES" sz="1100" spc="-2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en</a:t>
                      </a:r>
                      <a:r>
                        <a:rPr lang="es-ES" sz="1100" spc="-2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torno</a:t>
                      </a:r>
                      <a:r>
                        <a:rPr lang="es-ES" sz="1100" spc="-2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</a:t>
                      </a:r>
                      <a:r>
                        <a:rPr lang="es-ES" sz="1100" spc="-2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la</a:t>
                      </a:r>
                      <a:r>
                        <a:rPr lang="es-ES" sz="1100" spc="-2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aplicación</a:t>
                      </a:r>
                      <a:r>
                        <a:rPr lang="es-ES" sz="1100" spc="-2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del</a:t>
                      </a:r>
                      <a:r>
                        <a:rPr lang="es-ES" sz="1100" spc="-2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Código</a:t>
                      </a:r>
                      <a:r>
                        <a:rPr lang="es-ES" sz="1100" spc="-1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nacional</a:t>
                      </a:r>
                      <a:r>
                        <a:rPr lang="es-ES" sz="1100" spc="-1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de</a:t>
                      </a:r>
                      <a:r>
                        <a:rPr lang="es-ES" sz="1100" spc="-2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spc="-1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Policía</a:t>
                      </a:r>
                      <a:endParaRPr lang="es-CO" sz="1100" dirty="0">
                        <a:effectLst/>
                        <a:latin typeface="Century Gothic" panose="020B0502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6770556"/>
                  </a:ext>
                </a:extLst>
              </a:tr>
              <a:tr h="199994">
                <a:tc>
                  <a:txBody>
                    <a:bodyPr/>
                    <a:lstStyle/>
                    <a:p>
                      <a:pPr marL="22860" algn="ctr">
                        <a:lnSpc>
                          <a:spcPts val="1060"/>
                        </a:lnSpc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r>
                        <a:rPr lang="es-ES" sz="1100" spc="-25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3.2</a:t>
                      </a:r>
                      <a:endParaRPr lang="es-CO" sz="1100">
                        <a:effectLst/>
                        <a:latin typeface="Century Gothic" panose="020B0502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4935" algn="l">
                        <a:lnSpc>
                          <a:spcPts val="1055"/>
                        </a:lnSpc>
                        <a:spcBef>
                          <a:spcPts val="90"/>
                        </a:spcBef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Fortalecimiento</a:t>
                      </a:r>
                      <a:r>
                        <a:rPr lang="es-ES" sz="1100" spc="2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en</a:t>
                      </a:r>
                      <a:r>
                        <a:rPr lang="es-ES" sz="1100" spc="2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apoyo</a:t>
                      </a:r>
                      <a:r>
                        <a:rPr lang="es-ES" sz="1100" spc="2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operativo</a:t>
                      </a:r>
                      <a:r>
                        <a:rPr lang="es-ES" sz="1100" spc="2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para</a:t>
                      </a:r>
                      <a:r>
                        <a:rPr lang="es-ES" sz="1100" spc="2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la</a:t>
                      </a:r>
                      <a:r>
                        <a:rPr lang="es-ES" sz="1100" spc="2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gestión</a:t>
                      </a:r>
                      <a:r>
                        <a:rPr lang="es-ES" sz="1100" spc="2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en</a:t>
                      </a:r>
                      <a:r>
                        <a:rPr lang="es-ES" sz="1100" spc="1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seguridad</a:t>
                      </a:r>
                      <a:r>
                        <a:rPr lang="es-ES" sz="1100" spc="2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y</a:t>
                      </a:r>
                      <a:r>
                        <a:rPr lang="es-ES" sz="1100" spc="1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spc="-1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convivencia</a:t>
                      </a:r>
                      <a:endParaRPr lang="es-CO" sz="1100" dirty="0">
                        <a:effectLst/>
                        <a:latin typeface="Century Gothic" panose="020B0502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7327039"/>
                  </a:ext>
                </a:extLst>
              </a:tr>
              <a:tr h="186431">
                <a:tc>
                  <a:txBody>
                    <a:bodyPr/>
                    <a:lstStyle/>
                    <a:p>
                      <a:pPr marL="22860" algn="ctr">
                        <a:lnSpc>
                          <a:spcPts val="1060"/>
                        </a:lnSpc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r>
                        <a:rPr lang="es-ES" sz="1100" spc="-25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3.3</a:t>
                      </a:r>
                      <a:endParaRPr lang="es-CO" sz="1100">
                        <a:effectLst/>
                        <a:latin typeface="Century Gothic" panose="020B0502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4935" algn="l">
                        <a:lnSpc>
                          <a:spcPts val="1055"/>
                        </a:lnSpc>
                        <a:spcBef>
                          <a:spcPts val="90"/>
                        </a:spcBef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Campañas</a:t>
                      </a:r>
                      <a:r>
                        <a:rPr lang="es-ES" sz="1100" spc="-4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de</a:t>
                      </a:r>
                      <a:r>
                        <a:rPr lang="es-ES" sz="1100" spc="-4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prevención</a:t>
                      </a:r>
                      <a:r>
                        <a:rPr lang="es-ES" sz="1100" spc="-4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del</a:t>
                      </a:r>
                      <a:r>
                        <a:rPr lang="es-ES" sz="1100" spc="-4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consumo</a:t>
                      </a:r>
                      <a:r>
                        <a:rPr lang="es-ES" sz="1100" spc="-4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de</a:t>
                      </a:r>
                      <a:r>
                        <a:rPr lang="es-ES" sz="1100" spc="-4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spc="-1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drogas</a:t>
                      </a:r>
                      <a:endParaRPr lang="es-CO" sz="1100" dirty="0">
                        <a:effectLst/>
                        <a:latin typeface="Century Gothic" panose="020B0502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8724681"/>
                  </a:ext>
                </a:extLst>
              </a:tr>
              <a:tr h="195309">
                <a:tc>
                  <a:txBody>
                    <a:bodyPr/>
                    <a:lstStyle/>
                    <a:p>
                      <a:pPr marL="22860" algn="ctr">
                        <a:lnSpc>
                          <a:spcPts val="1060"/>
                        </a:lnSpc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r>
                        <a:rPr lang="es-ES" sz="1100" spc="-25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3.4</a:t>
                      </a:r>
                      <a:endParaRPr lang="es-CO" sz="1100">
                        <a:effectLst/>
                        <a:latin typeface="Century Gothic" panose="020B0502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4935" algn="l">
                        <a:lnSpc>
                          <a:spcPts val="1055"/>
                        </a:lnSpc>
                        <a:spcBef>
                          <a:spcPts val="90"/>
                        </a:spcBef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Atención</a:t>
                      </a:r>
                      <a:r>
                        <a:rPr lang="es-ES" sz="1100" spc="-6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al</a:t>
                      </a:r>
                      <a:r>
                        <a:rPr lang="es-ES" sz="1100" spc="-5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consumo</a:t>
                      </a:r>
                      <a:r>
                        <a:rPr lang="es-ES" sz="1100" spc="-6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de</a:t>
                      </a:r>
                      <a:r>
                        <a:rPr lang="es-ES" sz="1100" spc="-5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drogas</a:t>
                      </a:r>
                      <a:r>
                        <a:rPr lang="es-ES" sz="1100" spc="-4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en</a:t>
                      </a:r>
                      <a:r>
                        <a:rPr lang="es-ES" sz="1100" spc="-5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población</a:t>
                      </a:r>
                      <a:r>
                        <a:rPr lang="es-ES" sz="1100" spc="-6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spc="-1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vulnerable</a:t>
                      </a:r>
                      <a:endParaRPr lang="es-CO" sz="1100" dirty="0">
                        <a:effectLst/>
                        <a:latin typeface="Century Gothic" panose="020B0502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373095"/>
                  </a:ext>
                </a:extLst>
              </a:tr>
              <a:tr h="186431">
                <a:tc>
                  <a:txBody>
                    <a:bodyPr/>
                    <a:lstStyle/>
                    <a:p>
                      <a:pPr marL="22860" algn="ctr">
                        <a:lnSpc>
                          <a:spcPts val="1060"/>
                        </a:lnSpc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r>
                        <a:rPr lang="es-ES" sz="1100" spc="-25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3.5</a:t>
                      </a:r>
                      <a:endParaRPr lang="es-CO" sz="1100">
                        <a:effectLst/>
                        <a:latin typeface="Century Gothic" panose="020B0502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4935" algn="l">
                        <a:lnSpc>
                          <a:spcPts val="1055"/>
                        </a:lnSpc>
                        <a:spcBef>
                          <a:spcPts val="90"/>
                        </a:spcBef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Fortalecimiento de la</a:t>
                      </a:r>
                      <a:r>
                        <a:rPr lang="es-ES" sz="1100" spc="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ruta de</a:t>
                      </a:r>
                      <a:r>
                        <a:rPr lang="es-ES" sz="1100" spc="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protección a lideres</a:t>
                      </a:r>
                      <a:r>
                        <a:rPr lang="es-ES" sz="1100" spc="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sociales</a:t>
                      </a:r>
                      <a:r>
                        <a:rPr lang="es-ES" sz="1100" spc="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y</a:t>
                      </a:r>
                      <a:r>
                        <a:rPr lang="es-ES" sz="1100" spc="-1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políticos</a:t>
                      </a:r>
                      <a:endParaRPr lang="es-CO" sz="1100" dirty="0">
                        <a:effectLst/>
                        <a:latin typeface="Century Gothic" panose="020B0502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7217017"/>
                  </a:ext>
                </a:extLst>
              </a:tr>
              <a:tr h="186431">
                <a:tc>
                  <a:txBody>
                    <a:bodyPr/>
                    <a:lstStyle/>
                    <a:p>
                      <a:pPr marL="22860" algn="ctr">
                        <a:lnSpc>
                          <a:spcPts val="1060"/>
                        </a:lnSpc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r>
                        <a:rPr lang="es-ES" sz="1100" spc="-25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3.6</a:t>
                      </a:r>
                      <a:endParaRPr lang="es-CO" sz="1100">
                        <a:effectLst/>
                        <a:latin typeface="Century Gothic" panose="020B0502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4935" algn="l">
                        <a:lnSpc>
                          <a:spcPts val="1055"/>
                        </a:lnSpc>
                        <a:spcBef>
                          <a:spcPts val="90"/>
                        </a:spcBef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Prevención</a:t>
                      </a:r>
                      <a:r>
                        <a:rPr lang="es-ES" sz="1100" spc="2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social</a:t>
                      </a:r>
                      <a:r>
                        <a:rPr lang="es-ES" sz="1100" spc="4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de</a:t>
                      </a:r>
                      <a:r>
                        <a:rPr lang="es-ES" sz="1100" spc="3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la</a:t>
                      </a:r>
                      <a:r>
                        <a:rPr lang="es-ES" sz="1100" spc="4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spc="-1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violencia</a:t>
                      </a:r>
                      <a:endParaRPr lang="es-CO" sz="1100" dirty="0">
                        <a:effectLst/>
                        <a:latin typeface="Century Gothic" panose="020B0502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4325791"/>
                  </a:ext>
                </a:extLst>
              </a:tr>
              <a:tr h="195308">
                <a:tc>
                  <a:txBody>
                    <a:bodyPr/>
                    <a:lstStyle/>
                    <a:p>
                      <a:pPr marL="22860" algn="ctr">
                        <a:lnSpc>
                          <a:spcPts val="1060"/>
                        </a:lnSpc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r>
                        <a:rPr lang="es-ES" sz="1100" spc="-25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3.7</a:t>
                      </a:r>
                      <a:endParaRPr lang="es-CO" sz="1100">
                        <a:effectLst/>
                        <a:latin typeface="Century Gothic" panose="020B0502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4935" algn="l">
                        <a:lnSpc>
                          <a:spcPts val="1055"/>
                        </a:lnSpc>
                        <a:spcBef>
                          <a:spcPts val="90"/>
                        </a:spcBef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Campañas</a:t>
                      </a:r>
                      <a:r>
                        <a:rPr lang="es-ES" sz="1100" spc="1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preventivas</a:t>
                      </a:r>
                      <a:r>
                        <a:rPr lang="es-ES" sz="1100" spc="2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frente</a:t>
                      </a:r>
                      <a:r>
                        <a:rPr lang="es-ES" sz="1100" spc="1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al</a:t>
                      </a:r>
                      <a:r>
                        <a:rPr lang="es-ES" sz="1100" spc="2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spc="-1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hurto</a:t>
                      </a:r>
                      <a:endParaRPr lang="es-CO" sz="1100" dirty="0">
                        <a:effectLst/>
                        <a:latin typeface="Century Gothic" panose="020B0502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8087022"/>
                  </a:ext>
                </a:extLst>
              </a:tr>
              <a:tr h="157480">
                <a:tc>
                  <a:txBody>
                    <a:bodyPr/>
                    <a:lstStyle/>
                    <a:p>
                      <a:pPr marL="22860" algn="ctr">
                        <a:lnSpc>
                          <a:spcPts val="1060"/>
                        </a:lnSpc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r>
                        <a:rPr lang="es-ES" sz="1100" spc="-25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3.8</a:t>
                      </a:r>
                      <a:endParaRPr lang="es-CO" sz="1100">
                        <a:effectLst/>
                        <a:latin typeface="Century Gothic" panose="020B0502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4935" algn="l">
                        <a:lnSpc>
                          <a:spcPts val="1055"/>
                        </a:lnSpc>
                        <a:spcBef>
                          <a:spcPts val="90"/>
                        </a:spcBef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Campañas</a:t>
                      </a:r>
                      <a:r>
                        <a:rPr lang="es-ES" sz="1100" spc="-4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preventivas</a:t>
                      </a:r>
                      <a:r>
                        <a:rPr lang="es-ES" sz="1100" spc="-3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frente</a:t>
                      </a:r>
                      <a:r>
                        <a:rPr lang="es-ES" sz="1100" spc="-4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</a:t>
                      </a:r>
                      <a:r>
                        <a:rPr lang="es-ES" sz="1100" spc="-4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la</a:t>
                      </a:r>
                      <a:r>
                        <a:rPr lang="es-ES" sz="1100" spc="-3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extorsión</a:t>
                      </a:r>
                      <a:r>
                        <a:rPr lang="es-ES" sz="1100" spc="-4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y</a:t>
                      </a:r>
                      <a:r>
                        <a:rPr lang="es-ES" sz="1100" spc="-45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el</a:t>
                      </a:r>
                      <a:r>
                        <a:rPr lang="es-ES" sz="1100" spc="-3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s-ES" sz="1100" spc="-10" dirty="0">
                          <a:effectLst/>
                          <a:latin typeface="Century Gothic" panose="020B050202020202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secuestro</a:t>
                      </a:r>
                      <a:endParaRPr lang="es-CO" sz="1100" dirty="0">
                        <a:effectLst/>
                        <a:latin typeface="Century Gothic" panose="020B0502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50179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644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114;p5">
            <a:extLst>
              <a:ext uri="{FF2B5EF4-FFF2-40B4-BE49-F238E27FC236}">
                <a16:creationId xmlns:a16="http://schemas.microsoft.com/office/drawing/2014/main" id="{F7B9B82A-B904-4E16-8AA4-D8B9E53D36A2}"/>
              </a:ext>
            </a:extLst>
          </p:cNvPr>
          <p:cNvSpPr/>
          <p:nvPr/>
        </p:nvSpPr>
        <p:spPr>
          <a:xfrm>
            <a:off x="8987839" y="5058193"/>
            <a:ext cx="2573100" cy="98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84;p6">
            <a:extLst>
              <a:ext uri="{FF2B5EF4-FFF2-40B4-BE49-F238E27FC236}">
                <a16:creationId xmlns:a16="http://schemas.microsoft.com/office/drawing/2014/main" id="{538909FF-A32A-46E1-88A9-2FC6E675FC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81008" y="818697"/>
            <a:ext cx="6429983" cy="744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3600"/>
              <a:buFont typeface="Century Gothic"/>
              <a:buNone/>
            </a:pPr>
            <a:r>
              <a:rPr lang="es-MX" sz="3600" b="0" dirty="0">
                <a:solidFill>
                  <a:srgbClr val="1F3864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Actividades del proyecto</a:t>
            </a:r>
            <a:endParaRPr sz="3600" b="0" dirty="0">
              <a:solidFill>
                <a:srgbClr val="1F386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6" name="Google Shape;145;p6">
            <a:extLst>
              <a:ext uri="{FF2B5EF4-FFF2-40B4-BE49-F238E27FC236}">
                <a16:creationId xmlns:a16="http://schemas.microsoft.com/office/drawing/2014/main" id="{903374C9-D863-4022-93C1-76D58CF7DC5C}"/>
              </a:ext>
            </a:extLst>
          </p:cNvPr>
          <p:cNvGrpSpPr/>
          <p:nvPr/>
        </p:nvGrpSpPr>
        <p:grpSpPr>
          <a:xfrm>
            <a:off x="274641" y="2574067"/>
            <a:ext cx="11407207" cy="3176803"/>
            <a:chOff x="0" y="701075"/>
            <a:chExt cx="11407207" cy="3176803"/>
          </a:xfrm>
        </p:grpSpPr>
        <p:sp>
          <p:nvSpPr>
            <p:cNvPr id="7" name="Google Shape;146;p6">
              <a:extLst>
                <a:ext uri="{FF2B5EF4-FFF2-40B4-BE49-F238E27FC236}">
                  <a16:creationId xmlns:a16="http://schemas.microsoft.com/office/drawing/2014/main" id="{98590928-87A9-4A3D-B88A-1484DF9E7171}"/>
                </a:ext>
              </a:extLst>
            </p:cNvPr>
            <p:cNvSpPr/>
            <p:nvPr/>
          </p:nvSpPr>
          <p:spPr>
            <a:xfrm>
              <a:off x="0" y="1042750"/>
              <a:ext cx="2089961" cy="2359179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rgbClr val="E1E1E1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196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147;p6">
              <a:extLst>
                <a:ext uri="{FF2B5EF4-FFF2-40B4-BE49-F238E27FC236}">
                  <a16:creationId xmlns:a16="http://schemas.microsoft.com/office/drawing/2014/main" id="{29BE8D31-FEF9-4DA2-9DC9-590EF2666C95}"/>
                </a:ext>
              </a:extLst>
            </p:cNvPr>
            <p:cNvSpPr txBox="1"/>
            <p:nvPr/>
          </p:nvSpPr>
          <p:spPr>
            <a:xfrm>
              <a:off x="61213" y="1103963"/>
              <a:ext cx="1967535" cy="22367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00" tIns="7600" rIns="7600" bIns="76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MX" sz="1200" b="0" i="0" u="none" strike="noStrike" cap="none" dirty="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Contribuir a la generación de entornos seguros y cívicos a través de la sensibilización de la comunidad por medio de campañas de mitigación del delito y el mejoramiento de la convivencia y seguridad ciudadana.</a:t>
              </a:r>
              <a:endParaRPr sz="1200" b="0" i="0" u="none" strike="noStrike" cap="none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" name="Google Shape;148;p6">
              <a:extLst>
                <a:ext uri="{FF2B5EF4-FFF2-40B4-BE49-F238E27FC236}">
                  <a16:creationId xmlns:a16="http://schemas.microsoft.com/office/drawing/2014/main" id="{1312B340-96A5-416B-9BC8-19FD8E5B1B81}"/>
                </a:ext>
              </a:extLst>
            </p:cNvPr>
            <p:cNvSpPr/>
            <p:nvPr/>
          </p:nvSpPr>
          <p:spPr>
            <a:xfrm>
              <a:off x="2107379" y="2106940"/>
              <a:ext cx="1439647" cy="353908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w="12700" cap="flat" cmpd="sng">
              <a:solidFill>
                <a:srgbClr val="345A9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49;p6">
              <a:extLst>
                <a:ext uri="{FF2B5EF4-FFF2-40B4-BE49-F238E27FC236}">
                  <a16:creationId xmlns:a16="http://schemas.microsoft.com/office/drawing/2014/main" id="{4489F587-E7F9-4C33-B37C-5A435AAFD23F}"/>
                </a:ext>
              </a:extLst>
            </p:cNvPr>
            <p:cNvSpPr txBox="1"/>
            <p:nvPr/>
          </p:nvSpPr>
          <p:spPr>
            <a:xfrm rot="-3879183">
              <a:off x="2362992" y="1533636"/>
              <a:ext cx="72211" cy="722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2" name="Google Shape;150;p6">
              <a:extLst>
                <a:ext uri="{FF2B5EF4-FFF2-40B4-BE49-F238E27FC236}">
                  <a16:creationId xmlns:a16="http://schemas.microsoft.com/office/drawing/2014/main" id="{D9EA334A-75B2-4C99-A29D-AD60F7017B36}"/>
                </a:ext>
              </a:extLst>
            </p:cNvPr>
            <p:cNvSpPr/>
            <p:nvPr/>
          </p:nvSpPr>
          <p:spPr>
            <a:xfrm>
              <a:off x="2769928" y="1273395"/>
              <a:ext cx="2335093" cy="1834286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rgbClr val="E1E1E1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196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51;p6">
              <a:extLst>
                <a:ext uri="{FF2B5EF4-FFF2-40B4-BE49-F238E27FC236}">
                  <a16:creationId xmlns:a16="http://schemas.microsoft.com/office/drawing/2014/main" id="{B266148B-A945-4BCB-9C7F-6A7DB52DF6CB}"/>
                </a:ext>
              </a:extLst>
            </p:cNvPr>
            <p:cNvSpPr txBox="1"/>
            <p:nvPr/>
          </p:nvSpPr>
          <p:spPr>
            <a:xfrm>
              <a:off x="2798663" y="1420475"/>
              <a:ext cx="2227645" cy="17268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00" tIns="7600" rIns="7600" bIns="76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MX" sz="1200" b="0" i="0" u="none" strike="noStrike" cap="none" dirty="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Realizar campaña de difusión y sensibilización a la comunidad para la mitigación de delitos y para el mejoramiento de la convivencia y seguridad ciudadana.</a:t>
              </a:r>
              <a:endParaRPr sz="1200" b="0" i="0" u="none" strike="noStrike" cap="none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4" name="Google Shape;152;p6">
              <a:extLst>
                <a:ext uri="{FF2B5EF4-FFF2-40B4-BE49-F238E27FC236}">
                  <a16:creationId xmlns:a16="http://schemas.microsoft.com/office/drawing/2014/main" id="{CA2B9A4F-FA7B-4FB8-8689-E884B9F2D420}"/>
                </a:ext>
              </a:extLst>
            </p:cNvPr>
            <p:cNvSpPr/>
            <p:nvPr/>
          </p:nvSpPr>
          <p:spPr>
            <a:xfrm>
              <a:off x="5105021" y="2203900"/>
              <a:ext cx="1133176" cy="36878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w="12700" cap="flat" cmpd="sng">
              <a:solidFill>
                <a:srgbClr val="3A66B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3;p6">
              <a:extLst>
                <a:ext uri="{FF2B5EF4-FFF2-40B4-BE49-F238E27FC236}">
                  <a16:creationId xmlns:a16="http://schemas.microsoft.com/office/drawing/2014/main" id="{C0F4B81B-E2E1-4788-B1FA-A91021E2156D}"/>
                </a:ext>
              </a:extLst>
            </p:cNvPr>
            <p:cNvSpPr txBox="1"/>
            <p:nvPr/>
          </p:nvSpPr>
          <p:spPr>
            <a:xfrm rot="-1161039">
              <a:off x="5549578" y="701075"/>
              <a:ext cx="56658" cy="566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" name="Google Shape;154;p6">
              <a:extLst>
                <a:ext uri="{FF2B5EF4-FFF2-40B4-BE49-F238E27FC236}">
                  <a16:creationId xmlns:a16="http://schemas.microsoft.com/office/drawing/2014/main" id="{D5E74FFA-EF8E-4DDA-967B-9C8547C05CC8}"/>
                </a:ext>
              </a:extLst>
            </p:cNvPr>
            <p:cNvSpPr/>
            <p:nvPr/>
          </p:nvSpPr>
          <p:spPr>
            <a:xfrm>
              <a:off x="6078976" y="1871129"/>
              <a:ext cx="5328231" cy="636508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rgbClr val="E1E1E1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196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55;p6">
              <a:extLst>
                <a:ext uri="{FF2B5EF4-FFF2-40B4-BE49-F238E27FC236}">
                  <a16:creationId xmlns:a16="http://schemas.microsoft.com/office/drawing/2014/main" id="{5ECFC08C-C1FB-487D-91E9-14A405AE77EC}"/>
                </a:ext>
              </a:extLst>
            </p:cNvPr>
            <p:cNvSpPr txBox="1"/>
            <p:nvPr/>
          </p:nvSpPr>
          <p:spPr>
            <a:xfrm>
              <a:off x="6097620" y="1923937"/>
              <a:ext cx="5290945" cy="5992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00" tIns="7600" rIns="7600" bIns="76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MX" sz="1200" b="0" i="0" u="none" strike="noStrike" cap="none" dirty="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Realizar actividades de socialización y pedagogía ciudadana con el apoyo de material gráfico.</a:t>
              </a:r>
              <a:endParaRPr sz="1200" b="0" i="0" u="none" strike="noStrike" cap="none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9" name="Google Shape;157;p6">
              <a:extLst>
                <a:ext uri="{FF2B5EF4-FFF2-40B4-BE49-F238E27FC236}">
                  <a16:creationId xmlns:a16="http://schemas.microsoft.com/office/drawing/2014/main" id="{225F0816-997D-42F5-95D4-74A70B8DEB77}"/>
                </a:ext>
              </a:extLst>
            </p:cNvPr>
            <p:cNvSpPr txBox="1"/>
            <p:nvPr/>
          </p:nvSpPr>
          <p:spPr>
            <a:xfrm rot="1561676">
              <a:off x="5548162" y="1148452"/>
              <a:ext cx="59491" cy="594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3" name="Google Shape;161;p6">
              <a:extLst>
                <a:ext uri="{FF2B5EF4-FFF2-40B4-BE49-F238E27FC236}">
                  <a16:creationId xmlns:a16="http://schemas.microsoft.com/office/drawing/2014/main" id="{F4E34CB8-9076-4961-B1D0-10089207727E}"/>
                </a:ext>
              </a:extLst>
            </p:cNvPr>
            <p:cNvSpPr txBox="1"/>
            <p:nvPr/>
          </p:nvSpPr>
          <p:spPr>
            <a:xfrm rot="3633589">
              <a:off x="2374709" y="2751747"/>
              <a:ext cx="64493" cy="644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2" name="Google Shape;169;p6">
              <a:extLst>
                <a:ext uri="{FF2B5EF4-FFF2-40B4-BE49-F238E27FC236}">
                  <a16:creationId xmlns:a16="http://schemas.microsoft.com/office/drawing/2014/main" id="{1786EB70-4E36-443B-9270-D865B3401B12}"/>
                </a:ext>
              </a:extLst>
            </p:cNvPr>
            <p:cNvSpPr txBox="1"/>
            <p:nvPr/>
          </p:nvSpPr>
          <p:spPr>
            <a:xfrm rot="14160">
              <a:off x="5543476" y="3322251"/>
              <a:ext cx="50993" cy="509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6" name="Google Shape;173;p6">
              <a:extLst>
                <a:ext uri="{FF2B5EF4-FFF2-40B4-BE49-F238E27FC236}">
                  <a16:creationId xmlns:a16="http://schemas.microsoft.com/office/drawing/2014/main" id="{A37A85CF-8881-412B-8434-E5119F8B0618}"/>
                </a:ext>
              </a:extLst>
            </p:cNvPr>
            <p:cNvSpPr txBox="1"/>
            <p:nvPr/>
          </p:nvSpPr>
          <p:spPr>
            <a:xfrm rot="2596952">
              <a:off x="5549589" y="3805525"/>
              <a:ext cx="72353" cy="723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39" name="Google Shape;176;p6">
            <a:extLst>
              <a:ext uri="{FF2B5EF4-FFF2-40B4-BE49-F238E27FC236}">
                <a16:creationId xmlns:a16="http://schemas.microsoft.com/office/drawing/2014/main" id="{A41A7F9C-EA34-4061-95B3-8197E828F679}"/>
              </a:ext>
            </a:extLst>
          </p:cNvPr>
          <p:cNvSpPr/>
          <p:nvPr/>
        </p:nvSpPr>
        <p:spPr>
          <a:xfrm>
            <a:off x="133633" y="2658349"/>
            <a:ext cx="2310600" cy="288000"/>
          </a:xfrm>
          <a:prstGeom prst="roundRect">
            <a:avLst>
              <a:gd name="adj" fmla="val 16667"/>
            </a:avLst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600" b="1" i="0" u="none" strike="noStrike" cap="none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Específico 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177;p6">
            <a:extLst>
              <a:ext uri="{FF2B5EF4-FFF2-40B4-BE49-F238E27FC236}">
                <a16:creationId xmlns:a16="http://schemas.microsoft.com/office/drawing/2014/main" id="{8A74F056-2802-48E0-8691-3BA364BF4855}"/>
              </a:ext>
            </a:extLst>
          </p:cNvPr>
          <p:cNvSpPr/>
          <p:nvPr/>
        </p:nvSpPr>
        <p:spPr>
          <a:xfrm>
            <a:off x="3450221" y="2870455"/>
            <a:ext cx="1656000" cy="288000"/>
          </a:xfrm>
          <a:prstGeom prst="roundRect">
            <a:avLst>
              <a:gd name="adj" fmla="val 16667"/>
            </a:avLst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600" b="1" i="0" u="none" strike="noStrike" cap="none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Actividad 2.1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179;p6">
            <a:extLst>
              <a:ext uri="{FF2B5EF4-FFF2-40B4-BE49-F238E27FC236}">
                <a16:creationId xmlns:a16="http://schemas.microsoft.com/office/drawing/2014/main" id="{F21DA719-7117-429E-975C-696514FD781E}"/>
              </a:ext>
            </a:extLst>
          </p:cNvPr>
          <p:cNvSpPr/>
          <p:nvPr/>
        </p:nvSpPr>
        <p:spPr>
          <a:xfrm>
            <a:off x="7843228" y="3518525"/>
            <a:ext cx="2349008" cy="252000"/>
          </a:xfrm>
          <a:prstGeom prst="roundRect">
            <a:avLst>
              <a:gd name="adj" fmla="val 16667"/>
            </a:avLst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600" b="1" i="0" u="none" strike="noStrike" cap="none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Subactividad 2.1.1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6434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114;p5">
            <a:extLst>
              <a:ext uri="{FF2B5EF4-FFF2-40B4-BE49-F238E27FC236}">
                <a16:creationId xmlns:a16="http://schemas.microsoft.com/office/drawing/2014/main" id="{F7B9B82A-B904-4E16-8AA4-D8B9E53D36A2}"/>
              </a:ext>
            </a:extLst>
          </p:cNvPr>
          <p:cNvSpPr/>
          <p:nvPr/>
        </p:nvSpPr>
        <p:spPr>
          <a:xfrm>
            <a:off x="8987839" y="5058193"/>
            <a:ext cx="2573100" cy="98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84;p6">
            <a:extLst>
              <a:ext uri="{FF2B5EF4-FFF2-40B4-BE49-F238E27FC236}">
                <a16:creationId xmlns:a16="http://schemas.microsoft.com/office/drawing/2014/main" id="{538909FF-A32A-46E1-88A9-2FC6E675FC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81008" y="818697"/>
            <a:ext cx="6429983" cy="744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3600"/>
              <a:buFont typeface="Century Gothic"/>
              <a:buNone/>
            </a:pPr>
            <a:r>
              <a:rPr lang="es-MX" sz="3600" b="0" dirty="0">
                <a:solidFill>
                  <a:srgbClr val="1F3864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Actividades del proyecto</a:t>
            </a:r>
            <a:endParaRPr sz="3600" b="0" dirty="0">
              <a:solidFill>
                <a:srgbClr val="1F386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6" name="Google Shape;145;p6">
            <a:extLst>
              <a:ext uri="{FF2B5EF4-FFF2-40B4-BE49-F238E27FC236}">
                <a16:creationId xmlns:a16="http://schemas.microsoft.com/office/drawing/2014/main" id="{903374C9-D863-4022-93C1-76D58CF7DC5C}"/>
              </a:ext>
            </a:extLst>
          </p:cNvPr>
          <p:cNvGrpSpPr/>
          <p:nvPr/>
        </p:nvGrpSpPr>
        <p:grpSpPr>
          <a:xfrm>
            <a:off x="384961" y="2508738"/>
            <a:ext cx="11422075" cy="3176803"/>
            <a:chOff x="0" y="701075"/>
            <a:chExt cx="11422075" cy="3176803"/>
          </a:xfrm>
        </p:grpSpPr>
        <p:sp>
          <p:nvSpPr>
            <p:cNvPr id="7" name="Google Shape;146;p6">
              <a:extLst>
                <a:ext uri="{FF2B5EF4-FFF2-40B4-BE49-F238E27FC236}">
                  <a16:creationId xmlns:a16="http://schemas.microsoft.com/office/drawing/2014/main" id="{98590928-87A9-4A3D-B88A-1484DF9E7171}"/>
                </a:ext>
              </a:extLst>
            </p:cNvPr>
            <p:cNvSpPr/>
            <p:nvPr/>
          </p:nvSpPr>
          <p:spPr>
            <a:xfrm>
              <a:off x="0" y="1042750"/>
              <a:ext cx="2089961" cy="2359179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rgbClr val="E1E1E1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196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147;p6">
              <a:extLst>
                <a:ext uri="{FF2B5EF4-FFF2-40B4-BE49-F238E27FC236}">
                  <a16:creationId xmlns:a16="http://schemas.microsoft.com/office/drawing/2014/main" id="{29BE8D31-FEF9-4DA2-9DC9-590EF2666C95}"/>
                </a:ext>
              </a:extLst>
            </p:cNvPr>
            <p:cNvSpPr txBox="1"/>
            <p:nvPr/>
          </p:nvSpPr>
          <p:spPr>
            <a:xfrm>
              <a:off x="61213" y="1103963"/>
              <a:ext cx="1967535" cy="22367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00" tIns="7600" rIns="7600" bIns="7600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200"/>
              </a:pPr>
              <a:r>
                <a:rPr lang="es-ES" sz="1200" dirty="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Contribuir a la generación de entornos seguros y cívicos a través de la sensibilización de la comunidad por medio de campañas de mitigación del delito y el mejoramiento de la convivencia y seguridad ciudadana.</a:t>
              </a:r>
            </a:p>
          </p:txBody>
        </p:sp>
        <p:sp>
          <p:nvSpPr>
            <p:cNvPr id="10" name="Google Shape;148;p6">
              <a:extLst>
                <a:ext uri="{FF2B5EF4-FFF2-40B4-BE49-F238E27FC236}">
                  <a16:creationId xmlns:a16="http://schemas.microsoft.com/office/drawing/2014/main" id="{1312B340-96A5-416B-9BC8-19FD8E5B1B81}"/>
                </a:ext>
              </a:extLst>
            </p:cNvPr>
            <p:cNvSpPr/>
            <p:nvPr/>
          </p:nvSpPr>
          <p:spPr>
            <a:xfrm>
              <a:off x="2107379" y="2106940"/>
              <a:ext cx="1439647" cy="353908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w="12700" cap="flat" cmpd="sng">
              <a:solidFill>
                <a:srgbClr val="345A9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49;p6">
              <a:extLst>
                <a:ext uri="{FF2B5EF4-FFF2-40B4-BE49-F238E27FC236}">
                  <a16:creationId xmlns:a16="http://schemas.microsoft.com/office/drawing/2014/main" id="{4489F587-E7F9-4C33-B37C-5A435AAFD23F}"/>
                </a:ext>
              </a:extLst>
            </p:cNvPr>
            <p:cNvSpPr txBox="1"/>
            <p:nvPr/>
          </p:nvSpPr>
          <p:spPr>
            <a:xfrm rot="-3879183">
              <a:off x="2362992" y="1533636"/>
              <a:ext cx="72211" cy="722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2" name="Google Shape;150;p6">
              <a:extLst>
                <a:ext uri="{FF2B5EF4-FFF2-40B4-BE49-F238E27FC236}">
                  <a16:creationId xmlns:a16="http://schemas.microsoft.com/office/drawing/2014/main" id="{D9EA334A-75B2-4C99-A29D-AD60F7017B36}"/>
                </a:ext>
              </a:extLst>
            </p:cNvPr>
            <p:cNvSpPr/>
            <p:nvPr/>
          </p:nvSpPr>
          <p:spPr>
            <a:xfrm>
              <a:off x="2769928" y="1273395"/>
              <a:ext cx="2335093" cy="1834286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rgbClr val="E1E1E1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196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51;p6">
              <a:extLst>
                <a:ext uri="{FF2B5EF4-FFF2-40B4-BE49-F238E27FC236}">
                  <a16:creationId xmlns:a16="http://schemas.microsoft.com/office/drawing/2014/main" id="{B266148B-A945-4BCB-9C7F-6A7DB52DF6CB}"/>
                </a:ext>
              </a:extLst>
            </p:cNvPr>
            <p:cNvSpPr txBox="1"/>
            <p:nvPr/>
          </p:nvSpPr>
          <p:spPr>
            <a:xfrm>
              <a:off x="2798663" y="1420475"/>
              <a:ext cx="2227645" cy="17268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00" tIns="7600" rIns="7600" bIns="7600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200"/>
              </a:pPr>
              <a:r>
                <a:rPr lang="es-ES" sz="1200" dirty="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Realizar campaña de difusión y sensibilización a la comunidad para la mitigación de delitos y para el mejoramiento de la convivencia y seguridad ciudadana.</a:t>
              </a:r>
            </a:p>
          </p:txBody>
        </p:sp>
        <p:sp>
          <p:nvSpPr>
            <p:cNvPr id="14" name="Google Shape;152;p6">
              <a:extLst>
                <a:ext uri="{FF2B5EF4-FFF2-40B4-BE49-F238E27FC236}">
                  <a16:creationId xmlns:a16="http://schemas.microsoft.com/office/drawing/2014/main" id="{CA2B9A4F-FA7B-4FB8-8689-E884B9F2D420}"/>
                </a:ext>
              </a:extLst>
            </p:cNvPr>
            <p:cNvSpPr/>
            <p:nvPr/>
          </p:nvSpPr>
          <p:spPr>
            <a:xfrm rot="20438961">
              <a:off x="5079123" y="1859335"/>
              <a:ext cx="1133176" cy="36878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w="12700" cap="flat" cmpd="sng">
              <a:solidFill>
                <a:srgbClr val="3A66B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3;p6">
              <a:extLst>
                <a:ext uri="{FF2B5EF4-FFF2-40B4-BE49-F238E27FC236}">
                  <a16:creationId xmlns:a16="http://schemas.microsoft.com/office/drawing/2014/main" id="{C0F4B81B-E2E1-4788-B1FA-A91021E2156D}"/>
                </a:ext>
              </a:extLst>
            </p:cNvPr>
            <p:cNvSpPr txBox="1"/>
            <p:nvPr/>
          </p:nvSpPr>
          <p:spPr>
            <a:xfrm rot="-1161039">
              <a:off x="5549578" y="701075"/>
              <a:ext cx="56658" cy="566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" name="Google Shape;154;p6">
              <a:extLst>
                <a:ext uri="{FF2B5EF4-FFF2-40B4-BE49-F238E27FC236}">
                  <a16:creationId xmlns:a16="http://schemas.microsoft.com/office/drawing/2014/main" id="{D5E74FFA-EF8E-4DDA-967B-9C8547C05CC8}"/>
                </a:ext>
              </a:extLst>
            </p:cNvPr>
            <p:cNvSpPr/>
            <p:nvPr/>
          </p:nvSpPr>
          <p:spPr>
            <a:xfrm>
              <a:off x="6078978" y="1208257"/>
              <a:ext cx="5328231" cy="636508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rgbClr val="E1E1E1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196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55;p6">
              <a:extLst>
                <a:ext uri="{FF2B5EF4-FFF2-40B4-BE49-F238E27FC236}">
                  <a16:creationId xmlns:a16="http://schemas.microsoft.com/office/drawing/2014/main" id="{5ECFC08C-C1FB-487D-91E9-14A405AE77EC}"/>
                </a:ext>
              </a:extLst>
            </p:cNvPr>
            <p:cNvSpPr txBox="1"/>
            <p:nvPr/>
          </p:nvSpPr>
          <p:spPr>
            <a:xfrm>
              <a:off x="6131130" y="1280859"/>
              <a:ext cx="5290945" cy="5992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00" tIns="7600" rIns="7600" bIns="76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MX" sz="1200" b="0" i="0" u="none" strike="noStrike" cap="none" dirty="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Realizar la ruta de articulación a la ciudadanía con el entorno institucional del departamento.</a:t>
              </a:r>
              <a:endParaRPr sz="1200" b="0" i="0" u="none" strike="noStrike" cap="none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" name="Google Shape;156;p6">
              <a:extLst>
                <a:ext uri="{FF2B5EF4-FFF2-40B4-BE49-F238E27FC236}">
                  <a16:creationId xmlns:a16="http://schemas.microsoft.com/office/drawing/2014/main" id="{602B190C-F170-443C-9FF9-DDCA0824F4ED}"/>
                </a:ext>
              </a:extLst>
            </p:cNvPr>
            <p:cNvSpPr/>
            <p:nvPr/>
          </p:nvSpPr>
          <p:spPr>
            <a:xfrm rot="1561676" flipV="1">
              <a:off x="5027090" y="2349917"/>
              <a:ext cx="1189833" cy="164119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w="12700" cap="flat" cmpd="sng">
              <a:solidFill>
                <a:srgbClr val="3A66B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57;p6">
              <a:extLst>
                <a:ext uri="{FF2B5EF4-FFF2-40B4-BE49-F238E27FC236}">
                  <a16:creationId xmlns:a16="http://schemas.microsoft.com/office/drawing/2014/main" id="{225F0816-997D-42F5-95D4-74A70B8DEB77}"/>
                </a:ext>
              </a:extLst>
            </p:cNvPr>
            <p:cNvSpPr txBox="1"/>
            <p:nvPr/>
          </p:nvSpPr>
          <p:spPr>
            <a:xfrm rot="1561676">
              <a:off x="5548162" y="1148452"/>
              <a:ext cx="59491" cy="594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0" name="Google Shape;158;p6">
              <a:extLst>
                <a:ext uri="{FF2B5EF4-FFF2-40B4-BE49-F238E27FC236}">
                  <a16:creationId xmlns:a16="http://schemas.microsoft.com/office/drawing/2014/main" id="{0F898148-E195-420A-9991-340012DB3B73}"/>
                </a:ext>
              </a:extLst>
            </p:cNvPr>
            <p:cNvSpPr/>
            <p:nvPr/>
          </p:nvSpPr>
          <p:spPr>
            <a:xfrm>
              <a:off x="6068344" y="2620334"/>
              <a:ext cx="5328231" cy="609631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rgbClr val="E1E1E1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196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159;p6">
              <a:extLst>
                <a:ext uri="{FF2B5EF4-FFF2-40B4-BE49-F238E27FC236}">
                  <a16:creationId xmlns:a16="http://schemas.microsoft.com/office/drawing/2014/main" id="{83B645A3-E6CF-4B0C-A3A3-914C8330D0EC}"/>
                </a:ext>
              </a:extLst>
            </p:cNvPr>
            <p:cNvSpPr txBox="1"/>
            <p:nvPr/>
          </p:nvSpPr>
          <p:spPr>
            <a:xfrm>
              <a:off x="6086198" y="2676609"/>
              <a:ext cx="5292521" cy="5739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00" tIns="7600" rIns="7600" bIns="76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MX" sz="1200" b="0" i="0" u="none" strike="noStrike" cap="none" dirty="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Realizar ruta multiplicadora de habilidades y capacidades para la construcción de entornos seguros y confiables.</a:t>
              </a:r>
              <a:endParaRPr sz="1200" b="0" i="0" u="none" strike="noStrike" cap="none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3" name="Google Shape;161;p6">
              <a:extLst>
                <a:ext uri="{FF2B5EF4-FFF2-40B4-BE49-F238E27FC236}">
                  <a16:creationId xmlns:a16="http://schemas.microsoft.com/office/drawing/2014/main" id="{F4E34CB8-9076-4961-B1D0-10089207727E}"/>
                </a:ext>
              </a:extLst>
            </p:cNvPr>
            <p:cNvSpPr txBox="1"/>
            <p:nvPr/>
          </p:nvSpPr>
          <p:spPr>
            <a:xfrm rot="3633589">
              <a:off x="2374709" y="2751747"/>
              <a:ext cx="64493" cy="644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2" name="Google Shape;169;p6">
              <a:extLst>
                <a:ext uri="{FF2B5EF4-FFF2-40B4-BE49-F238E27FC236}">
                  <a16:creationId xmlns:a16="http://schemas.microsoft.com/office/drawing/2014/main" id="{1786EB70-4E36-443B-9270-D865B3401B12}"/>
                </a:ext>
              </a:extLst>
            </p:cNvPr>
            <p:cNvSpPr txBox="1"/>
            <p:nvPr/>
          </p:nvSpPr>
          <p:spPr>
            <a:xfrm rot="14160">
              <a:off x="5543476" y="3322251"/>
              <a:ext cx="50993" cy="509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6" name="Google Shape;173;p6">
              <a:extLst>
                <a:ext uri="{FF2B5EF4-FFF2-40B4-BE49-F238E27FC236}">
                  <a16:creationId xmlns:a16="http://schemas.microsoft.com/office/drawing/2014/main" id="{A37A85CF-8881-412B-8434-E5119F8B0618}"/>
                </a:ext>
              </a:extLst>
            </p:cNvPr>
            <p:cNvSpPr txBox="1"/>
            <p:nvPr/>
          </p:nvSpPr>
          <p:spPr>
            <a:xfrm rot="2596952">
              <a:off x="5549589" y="3805525"/>
              <a:ext cx="72353" cy="723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39" name="Google Shape;176;p6">
            <a:extLst>
              <a:ext uri="{FF2B5EF4-FFF2-40B4-BE49-F238E27FC236}">
                <a16:creationId xmlns:a16="http://schemas.microsoft.com/office/drawing/2014/main" id="{A41A7F9C-EA34-4061-95B3-8197E828F679}"/>
              </a:ext>
            </a:extLst>
          </p:cNvPr>
          <p:cNvSpPr/>
          <p:nvPr/>
        </p:nvSpPr>
        <p:spPr>
          <a:xfrm>
            <a:off x="274641" y="2553259"/>
            <a:ext cx="2310600" cy="288000"/>
          </a:xfrm>
          <a:prstGeom prst="roundRect">
            <a:avLst>
              <a:gd name="adj" fmla="val 16667"/>
            </a:avLst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600" b="1" i="0" u="none" strike="noStrike" cap="none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Específico 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177;p6">
            <a:extLst>
              <a:ext uri="{FF2B5EF4-FFF2-40B4-BE49-F238E27FC236}">
                <a16:creationId xmlns:a16="http://schemas.microsoft.com/office/drawing/2014/main" id="{8A74F056-2802-48E0-8691-3BA364BF4855}"/>
              </a:ext>
            </a:extLst>
          </p:cNvPr>
          <p:cNvSpPr/>
          <p:nvPr/>
        </p:nvSpPr>
        <p:spPr>
          <a:xfrm>
            <a:off x="3450221" y="2870455"/>
            <a:ext cx="1656000" cy="288000"/>
          </a:xfrm>
          <a:prstGeom prst="roundRect">
            <a:avLst>
              <a:gd name="adj" fmla="val 16667"/>
            </a:avLst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600" b="1" i="0" u="none" strike="noStrike" cap="none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Actividad 2.2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179;p6">
            <a:extLst>
              <a:ext uri="{FF2B5EF4-FFF2-40B4-BE49-F238E27FC236}">
                <a16:creationId xmlns:a16="http://schemas.microsoft.com/office/drawing/2014/main" id="{F21DA719-7117-429E-975C-696514FD781E}"/>
              </a:ext>
            </a:extLst>
          </p:cNvPr>
          <p:cNvSpPr/>
          <p:nvPr/>
        </p:nvSpPr>
        <p:spPr>
          <a:xfrm>
            <a:off x="7953550" y="2829058"/>
            <a:ext cx="2349008" cy="252000"/>
          </a:xfrm>
          <a:prstGeom prst="roundRect">
            <a:avLst>
              <a:gd name="adj" fmla="val 16667"/>
            </a:avLst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600" b="1" i="0" u="none" strike="noStrike" cap="none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Subactividad 2.2.1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179;p6">
            <a:extLst>
              <a:ext uri="{FF2B5EF4-FFF2-40B4-BE49-F238E27FC236}">
                <a16:creationId xmlns:a16="http://schemas.microsoft.com/office/drawing/2014/main" id="{F800D85E-8F63-4AEE-B65D-CE479D744B85}"/>
              </a:ext>
            </a:extLst>
          </p:cNvPr>
          <p:cNvSpPr/>
          <p:nvPr/>
        </p:nvSpPr>
        <p:spPr>
          <a:xfrm>
            <a:off x="7953550" y="4192143"/>
            <a:ext cx="2349008" cy="252000"/>
          </a:xfrm>
          <a:prstGeom prst="roundRect">
            <a:avLst>
              <a:gd name="adj" fmla="val 16667"/>
            </a:avLst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600" b="1" i="0" u="none" strike="noStrike" cap="none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Subactividad </a:t>
            </a:r>
            <a:r>
              <a:rPr lang="es-MX" sz="1600" b="1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r>
              <a:rPr lang="es-MX" sz="1600" b="1" i="0" u="none" strike="noStrike" cap="none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.2.2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31252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Presentación Mediadores de Convivencia - 2025 (1)</Template>
  <TotalTime>2325</TotalTime>
  <Words>819</Words>
  <Application>Microsoft Office PowerPoint</Application>
  <PresentationFormat>Panorámica</PresentationFormat>
  <Paragraphs>88</Paragraphs>
  <Slides>9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Calibri</vt:lpstr>
      <vt:lpstr>Century Gothic</vt:lpstr>
      <vt:lpstr>Verdana</vt:lpstr>
      <vt:lpstr>Tema de Office</vt:lpstr>
      <vt:lpstr> “Mediadores de Convivencia 2025"</vt:lpstr>
      <vt:lpstr>Objetivo General </vt:lpstr>
      <vt:lpstr>Lugar de ejecución</vt:lpstr>
      <vt:lpstr>Actividades del proyecto</vt:lpstr>
      <vt:lpstr>Plan de trabajo Mediadores 2025</vt:lpstr>
      <vt:lpstr>Plan de trabajo Mediadores 2025</vt:lpstr>
      <vt:lpstr>Actividades del proyecto</vt:lpstr>
      <vt:lpstr>Actividades del proyecto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Campaña de Lanzamiento:  "Promotores: Residuos Cero"</dc:title>
  <dc:creator>Diseño</dc:creator>
  <cp:lastModifiedBy>GESTOR CONVIVENCIA</cp:lastModifiedBy>
  <cp:revision>66</cp:revision>
  <dcterms:created xsi:type="dcterms:W3CDTF">2024-03-14T13:05:12Z</dcterms:created>
  <dcterms:modified xsi:type="dcterms:W3CDTF">2026-09-11T21:08:37Z</dcterms:modified>
</cp:coreProperties>
</file>